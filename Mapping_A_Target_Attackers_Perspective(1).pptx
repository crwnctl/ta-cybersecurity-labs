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Play"/>
      <p:regular r:id="rId28"/>
      <p:bold r:id="rId29"/>
    </p:embeddedFont>
    <p:embeddedFont>
      <p:font typeface="Robo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j3dzUnkTJPq5wtZa0IchaA6eaA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lay-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915263988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b915263988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72" name="Google Shape;172;g3b915263988_0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b915263988_0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b915263988_0_1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81" name="Google Shape;181;g3b915263988_0_1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b915263988_0_3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b915263988_0_3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CA"/>
              <a:t>ICS is an umbrella term hardware and software used to monitor and control physical industrial processes. The systems we’ll be talking about today were responsible for controlling power generation, transmission and automated safety responses within the electrical grid.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CA"/>
              <a:t>SCADA systems provide centralized monitoring and high level control over distributed assets like substations and transmission infrastructure. SCADA here is what the attackers want to abuse to observe grid status and alter grid behaviour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CA"/>
              <a:t>PLCs are used in an industrial setting to control physical devices like breakers, transformers and switches. This is where digital commands get translated into physical actions.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CA"/>
              <a:t>OT are systems that control and interact with physical processes so SCADA and PLC both fall under the umbrella of Operational Technology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CA"/>
              <a:t>IT systems include email services, identity managers, workstations and servers. </a:t>
            </a:r>
            <a:endParaRPr/>
          </a:p>
          <a:p>
            <a:pPr indent="0" lvl="0" marL="0" rtl="0" algn="l">
              <a:lnSpc>
                <a:spcPct val="100000"/>
              </a:lnSpc>
              <a:spcBef>
                <a:spcPts val="0"/>
              </a:spcBef>
              <a:spcAft>
                <a:spcPts val="0"/>
              </a:spcAft>
              <a:buSzPts val="1400"/>
              <a:buNone/>
            </a:pPr>
            <a:r>
              <a:rPr lang="en-CA"/>
              <a:t>As you’ll soon see IT systems are a critical foothold for access to Operational technologies.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CA"/>
              <a:t>An RTO manages electricity transmission and power supply balancing in a large geographical region.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90" name="Google Shape;190;g3b915263988_0_3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915263988_0_3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g3b915263988_0_3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99" name="Google Shape;199;g3b915263988_0_3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b915263988_0_3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b915263988_0_3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08" name="Google Shape;208;g3b915263988_0_3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915263988_0_3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b915263988_0_3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CA"/>
              <a:t>An exact timeline is impossible to know right now but the timeline on these phases is likely </a:t>
            </a:r>
            <a:endParaRPr/>
          </a:p>
          <a:p>
            <a:pPr indent="0" lvl="0" marL="0" rtl="0" algn="l">
              <a:lnSpc>
                <a:spcPct val="100000"/>
              </a:lnSpc>
              <a:spcBef>
                <a:spcPts val="0"/>
              </a:spcBef>
              <a:spcAft>
                <a:spcPts val="0"/>
              </a:spcAft>
              <a:buSzPts val="1400"/>
              <a:buNone/>
            </a:pPr>
            <a:r>
              <a:rPr lang="en-CA"/>
              <a:t>Recon &amp; OSINT weeks or months before attack</a:t>
            </a:r>
            <a:endParaRPr/>
          </a:p>
          <a:p>
            <a:pPr indent="0" lvl="0" marL="0" rtl="0" algn="l">
              <a:lnSpc>
                <a:spcPct val="100000"/>
              </a:lnSpc>
              <a:spcBef>
                <a:spcPts val="0"/>
              </a:spcBef>
              <a:spcAft>
                <a:spcPts val="0"/>
              </a:spcAft>
              <a:buSzPts val="1400"/>
              <a:buNone/>
            </a:pPr>
            <a:r>
              <a:rPr lang="en-CA"/>
              <a:t>Initial access days to weeks before attack</a:t>
            </a:r>
            <a:endParaRPr/>
          </a:p>
          <a:p>
            <a:pPr indent="0" lvl="0" marL="0" rtl="0" algn="l">
              <a:lnSpc>
                <a:spcPct val="100000"/>
              </a:lnSpc>
              <a:spcBef>
                <a:spcPts val="0"/>
              </a:spcBef>
              <a:spcAft>
                <a:spcPts val="0"/>
              </a:spcAft>
              <a:buSzPts val="1400"/>
              <a:buNone/>
            </a:pPr>
            <a:r>
              <a:rPr lang="en-CA"/>
              <a:t>IT to OT pivot was likely only days or hours before the attack</a:t>
            </a:r>
            <a:endParaRPr/>
          </a:p>
          <a:p>
            <a:pPr indent="0" lvl="0" marL="0" rtl="0" algn="l">
              <a:lnSpc>
                <a:spcPct val="100000"/>
              </a:lnSpc>
              <a:spcBef>
                <a:spcPts val="0"/>
              </a:spcBef>
              <a:spcAft>
                <a:spcPts val="0"/>
              </a:spcAft>
              <a:buSzPts val="1400"/>
              <a:buNone/>
            </a:pPr>
            <a:r>
              <a:rPr lang="en-CA"/>
              <a:t>And when everything was in place the grid disruption phase likely only took minutes for attackers to execute</a:t>
            </a:r>
            <a:endParaRPr/>
          </a:p>
          <a:p>
            <a:pPr indent="0" lvl="0" marL="0" rtl="0" algn="l">
              <a:lnSpc>
                <a:spcPct val="100000"/>
              </a:lnSpc>
              <a:spcBef>
                <a:spcPts val="0"/>
              </a:spcBef>
              <a:spcAft>
                <a:spcPts val="0"/>
              </a:spcAft>
              <a:buSzPts val="1400"/>
              <a:buNone/>
            </a:pPr>
            <a:r>
              <a:t/>
            </a:r>
            <a:endParaRPr/>
          </a:p>
        </p:txBody>
      </p:sp>
      <p:sp>
        <p:nvSpPr>
          <p:cNvPr id="217" name="Google Shape;217;g3b915263988_0_3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b915263988_0_3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3b915263988_0_3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CA"/>
              <a:t>We don’t know who was actually targeted for this attack but we can make assumptions based on who it needed to be. These qualities are what make a good target for this attack …</a:t>
            </a:r>
            <a:endParaRPr/>
          </a:p>
          <a:p>
            <a:pPr indent="0" lvl="0" marL="0" rtl="0" algn="l">
              <a:lnSpc>
                <a:spcPct val="100000"/>
              </a:lnSpc>
              <a:spcBef>
                <a:spcPts val="0"/>
              </a:spcBef>
              <a:spcAft>
                <a:spcPts val="0"/>
              </a:spcAft>
              <a:buSzPts val="1400"/>
              <a:buNone/>
            </a:pPr>
            <a:r>
              <a:t/>
            </a:r>
            <a:endParaRPr/>
          </a:p>
        </p:txBody>
      </p:sp>
      <p:sp>
        <p:nvSpPr>
          <p:cNvPr id="253" name="Google Shape;253;g3b915263988_0_3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b915263988_0_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3b915263988_0_3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CA"/>
              <a:t>So in combining what we know about other regional transmissions operators and any publicly disclosed information on Caracas substations and control centers we can map out the most likely infrastructure.</a:t>
            </a:r>
            <a:endParaRPr/>
          </a:p>
          <a:p>
            <a:pPr indent="0" lvl="0" marL="0" rtl="0" algn="l">
              <a:lnSpc>
                <a:spcPct val="100000"/>
              </a:lnSpc>
              <a:spcBef>
                <a:spcPts val="0"/>
              </a:spcBef>
              <a:spcAft>
                <a:spcPts val="0"/>
              </a:spcAft>
              <a:buSzPts val="1400"/>
              <a:buNone/>
            </a:pPr>
            <a:r>
              <a:t/>
            </a:r>
            <a:endParaRPr/>
          </a:p>
        </p:txBody>
      </p:sp>
      <p:sp>
        <p:nvSpPr>
          <p:cNvPr id="262" name="Google Shape;262;g3b915263988_0_3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b915263988_0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3b915263988_0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71" name="Google Shape;271;g3b915263988_0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b915263988_0_2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3b915263988_0_2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80" name="Google Shape;280;g3b915263988_0_2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b915263988_0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3b915263988_0_2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89" name="Google Shape;289;g3b915263988_0_2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b915263988_0_2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3b915263988_0_2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98" name="Google Shape;298;g3b915263988_0_2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b915263988_0_4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3b915263988_0_4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07" name="Google Shape;307;g3b915263988_0_4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b91cd30b7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3b91cd30b7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16" name="Google Shape;316;g3b91cd30b7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b915263988_0_2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g3b915263988_0_2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25" name="Google Shape;325;g3b915263988_0_2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b915263988_0_5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3b915263988_0_5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34" name="Google Shape;334;g3b915263988_0_5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b915263988_0_5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g3b915263988_0_5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43" name="Google Shape;343;g3b915263988_0_5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915263988_0_5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3b915263988_0_5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52" name="Google Shape;352;g3b915263988_0_5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b915263988_0_5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g3b915263988_0_5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61" name="Google Shape;361;g3b915263988_0_5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b915263988_0_5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g3b915263988_0_5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CA"/>
              <a:t>Low Level:</a:t>
            </a:r>
            <a:endParaRPr/>
          </a:p>
          <a:p>
            <a:pPr indent="0" lvl="0" marL="0" rtl="0" algn="l">
              <a:lnSpc>
                <a:spcPct val="100000"/>
              </a:lnSpc>
              <a:spcBef>
                <a:spcPts val="0"/>
              </a:spcBef>
              <a:spcAft>
                <a:spcPts val="0"/>
              </a:spcAft>
              <a:buSzPts val="1400"/>
              <a:buNone/>
            </a:pPr>
            <a:r>
              <a:rPr lang="en-CA"/>
              <a:t>MFA</a:t>
            </a:r>
            <a:endParaRPr/>
          </a:p>
          <a:p>
            <a:pPr indent="0" lvl="0" marL="0" rtl="0" algn="l">
              <a:lnSpc>
                <a:spcPct val="100000"/>
              </a:lnSpc>
              <a:spcBef>
                <a:spcPts val="0"/>
              </a:spcBef>
              <a:spcAft>
                <a:spcPts val="0"/>
              </a:spcAft>
              <a:buSzPts val="1400"/>
              <a:buNone/>
            </a:pPr>
            <a:r>
              <a:rPr lang="en-CA"/>
              <a:t>Medium Level:</a:t>
            </a:r>
            <a:endParaRPr/>
          </a:p>
          <a:p>
            <a:pPr indent="0" lvl="0" marL="0" rtl="0" algn="l">
              <a:lnSpc>
                <a:spcPct val="100000"/>
              </a:lnSpc>
              <a:spcBef>
                <a:spcPts val="0"/>
              </a:spcBef>
              <a:spcAft>
                <a:spcPts val="0"/>
              </a:spcAft>
              <a:buSzPts val="1400"/>
              <a:buNone/>
            </a:pPr>
            <a:r>
              <a:rPr lang="en-CA"/>
              <a:t>No internet exposure</a:t>
            </a:r>
            <a:endParaRPr/>
          </a:p>
          <a:p>
            <a:pPr indent="0" lvl="0" marL="0" rtl="0" algn="l">
              <a:lnSpc>
                <a:spcPct val="100000"/>
              </a:lnSpc>
              <a:spcBef>
                <a:spcPts val="0"/>
              </a:spcBef>
              <a:spcAft>
                <a:spcPts val="0"/>
              </a:spcAft>
              <a:buSzPts val="1400"/>
              <a:buNone/>
            </a:pPr>
            <a:r>
              <a:rPr lang="en-CA"/>
              <a:t>Harder to access directly</a:t>
            </a:r>
            <a:endParaRPr/>
          </a:p>
          <a:p>
            <a:pPr indent="0" lvl="0" marL="0" rtl="0" algn="l">
              <a:lnSpc>
                <a:spcPct val="100000"/>
              </a:lnSpc>
              <a:spcBef>
                <a:spcPts val="0"/>
              </a:spcBef>
              <a:spcAft>
                <a:spcPts val="0"/>
              </a:spcAft>
              <a:buSzPts val="1400"/>
              <a:buNone/>
            </a:pPr>
            <a:r>
              <a:rPr lang="en-CA"/>
              <a:t>IT provides trust pathways</a:t>
            </a:r>
            <a:endParaRPr/>
          </a:p>
          <a:p>
            <a:pPr indent="0" lvl="0" marL="0" rtl="0" algn="l">
              <a:lnSpc>
                <a:spcPct val="100000"/>
              </a:lnSpc>
              <a:spcBef>
                <a:spcPts val="0"/>
              </a:spcBef>
              <a:spcAft>
                <a:spcPts val="0"/>
              </a:spcAft>
              <a:buSzPts val="1400"/>
              <a:buNone/>
            </a:pPr>
            <a:r>
              <a:rPr lang="en-CA"/>
              <a:t>IT controls are weaker and more exposed</a:t>
            </a:r>
            <a:endParaRPr/>
          </a:p>
          <a:p>
            <a:pPr indent="0" lvl="0" marL="0" rtl="0" algn="l">
              <a:lnSpc>
                <a:spcPct val="100000"/>
              </a:lnSpc>
              <a:spcBef>
                <a:spcPts val="0"/>
              </a:spcBef>
              <a:spcAft>
                <a:spcPts val="0"/>
              </a:spcAft>
              <a:buSzPts val="1400"/>
              <a:buNone/>
            </a:pPr>
            <a:r>
              <a:rPr lang="en-CA"/>
              <a:t>Higher Level (Political/Operational Mindset):</a:t>
            </a:r>
            <a:endParaRPr/>
          </a:p>
          <a:p>
            <a:pPr indent="0" lvl="0" marL="0" rtl="0" algn="l">
              <a:lnSpc>
                <a:spcPct val="100000"/>
              </a:lnSpc>
              <a:spcBef>
                <a:spcPts val="0"/>
              </a:spcBef>
              <a:spcAft>
                <a:spcPts val="0"/>
              </a:spcAft>
              <a:buSzPts val="1400"/>
              <a:buNone/>
            </a:pPr>
            <a:r>
              <a:rPr lang="en-CA"/>
              <a:t>Russia was preparing for war with Ukraine they wanted to weaker their economy through damaging critical infrastructure and cause panic amongst the population.</a:t>
            </a:r>
            <a:endParaRPr/>
          </a:p>
          <a:p>
            <a:pPr indent="0" lvl="0" marL="0" rtl="0" algn="l">
              <a:lnSpc>
                <a:spcPct val="100000"/>
              </a:lnSpc>
              <a:spcBef>
                <a:spcPts val="0"/>
              </a:spcBef>
              <a:spcAft>
                <a:spcPts val="0"/>
              </a:spcAft>
              <a:buSzPts val="1400"/>
              <a:buNone/>
            </a:pPr>
            <a:r>
              <a:rPr lang="en-CA"/>
              <a:t>United States goal was confusion and concealment. The goals were military advantage by being prepared for darkness before hand, and cutting off many critical channels of communication that would help the venezuela military respond and by making the grid failure one of automated shutdowns it was unclear if it was an attack or not this caused confusion.</a:t>
            </a:r>
            <a:endParaRPr/>
          </a:p>
        </p:txBody>
      </p:sp>
      <p:sp>
        <p:nvSpPr>
          <p:cNvPr id="370" name="Google Shape;370;g3b915263988_0_5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CA"/>
              <a:t>||</a:t>
            </a:r>
            <a:endParaRPr/>
          </a:p>
          <a:p>
            <a:pPr indent="0" lvl="0" marL="0" rtl="0" algn="l">
              <a:lnSpc>
                <a:spcPct val="100000"/>
              </a:lnSpc>
              <a:spcBef>
                <a:spcPts val="0"/>
              </a:spcBef>
              <a:spcAft>
                <a:spcPts val="0"/>
              </a:spcAft>
              <a:buSzPts val="1400"/>
              <a:buNone/>
            </a:pPr>
            <a:r>
              <a:rPr lang="en-CA"/>
              <a:t>Thank You!! |</a:t>
            </a:r>
            <a:endParaRPr/>
          </a:p>
          <a:p>
            <a:pPr indent="0" lvl="0" marL="0" rtl="0" algn="l">
              <a:lnSpc>
                <a:spcPct val="100000"/>
              </a:lnSpc>
              <a:spcBef>
                <a:spcPts val="0"/>
              </a:spcBef>
              <a:spcAft>
                <a:spcPts val="0"/>
              </a:spcAft>
              <a:buSzPts val="1400"/>
              <a:buNone/>
            </a:pPr>
            <a:r>
              <a:t/>
            </a:r>
            <a:endParaRPr/>
          </a:p>
        </p:txBody>
      </p:sp>
      <p:sp>
        <p:nvSpPr>
          <p:cNvPr id="378" name="Google Shape;3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p:nvPr>
            <p:ph idx="2" type="pic"/>
          </p:nvPr>
        </p:nvSpPr>
        <p:spPr>
          <a:xfrm>
            <a:off x="5183188" y="987425"/>
            <a:ext cx="6172200" cy="4873625"/>
          </a:xfrm>
          <a:prstGeom prst="rect">
            <a:avLst/>
          </a:prstGeom>
          <a:noFill/>
          <a:ln>
            <a:noFill/>
          </a:ln>
        </p:spPr>
      </p:sp>
      <p:sp>
        <p:nvSpPr>
          <p:cNvPr id="68" name="Google Shape;68;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g3b915263988_0_10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g3b915263988_0_10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g3b915263988_0_10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3b915263988_0_10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g3b915263988_0_10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6" name="Shape 96"/>
        <p:cNvGrpSpPr/>
        <p:nvPr/>
      </p:nvGrpSpPr>
      <p:grpSpPr>
        <a:xfrm>
          <a:off x="0" y="0"/>
          <a:ext cx="0" cy="0"/>
          <a:chOff x="0" y="0"/>
          <a:chExt cx="0" cy="0"/>
        </a:xfrm>
      </p:grpSpPr>
      <p:sp>
        <p:nvSpPr>
          <p:cNvPr id="97" name="Google Shape;97;g3b915263988_0_97"/>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g3b915263988_0_97"/>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9" name="Google Shape;99;g3b915263988_0_9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3b915263988_0_9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g3b915263988_0_9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g3b915263988_0_109"/>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g3b915263988_0_109"/>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05" name="Google Shape;105;g3b915263988_0_10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3b915263988_0_10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g3b915263988_0_10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g3b915263988_0_1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g3b915263988_0_115"/>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g3b915263988_0_115"/>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g3b915263988_0_11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g3b915263988_0_1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3b915263988_0_1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g3b915263988_0_122"/>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g3b915263988_0_122"/>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8" name="Google Shape;118;g3b915263988_0_122"/>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g3b915263988_0_122"/>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0" name="Google Shape;120;g3b915263988_0_122"/>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g3b915263988_0_1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g3b915263988_0_1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g3b915263988_0_1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g3b915263988_0_13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g3b915263988_0_13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g3b915263988_0_13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3b915263988_0_1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g3b915263988_0_13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g3b915263988_0_1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g3b915263988_0_1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g3b915263988_0_14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g3b915263988_0_140"/>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6" name="Google Shape;136;g3b915263988_0_140"/>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7" name="Google Shape;137;g3b915263988_0_14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g3b915263988_0_1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g3b915263988_0_1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g3b915263988_0_147"/>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g3b915263988_0_147"/>
          <p:cNvSpPr/>
          <p:nvPr>
            <p:ph idx="2" type="pic"/>
          </p:nvPr>
        </p:nvSpPr>
        <p:spPr>
          <a:xfrm>
            <a:off x="5183188" y="987425"/>
            <a:ext cx="6172200" cy="4873500"/>
          </a:xfrm>
          <a:prstGeom prst="rect">
            <a:avLst/>
          </a:prstGeom>
          <a:noFill/>
          <a:ln>
            <a:noFill/>
          </a:ln>
        </p:spPr>
      </p:sp>
      <p:sp>
        <p:nvSpPr>
          <p:cNvPr id="143" name="Google Shape;143;g3b915263988_0_147"/>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4" name="Google Shape;144;g3b915263988_0_14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g3b915263988_0_14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g3b915263988_0_1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g3b915263988_0_15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g3b915263988_0_154"/>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g3b915263988_0_15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g3b915263988_0_15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g3b915263988_0_15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g3b915263988_0_160"/>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g3b915263988_0_160"/>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g3b915263988_0_16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g3b915263988_0_16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g3b915263988_0_16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0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g3b915263988_0_9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g3b915263988_0_9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7" name="Google Shape;87;g3b915263988_0_9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8" name="Google Shape;88;g3b915263988_0_9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9" name="Google Shape;89;g3b915263988_0_9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E8EB"/>
        </a:solidFill>
      </p:bgPr>
    </p:bg>
    <p:spTree>
      <p:nvGrpSpPr>
        <p:cNvPr id="162" name="Shape 162"/>
        <p:cNvGrpSpPr/>
        <p:nvPr/>
      </p:nvGrpSpPr>
      <p:grpSpPr>
        <a:xfrm>
          <a:off x="0" y="0"/>
          <a:ext cx="0" cy="0"/>
          <a:chOff x="0" y="0"/>
          <a:chExt cx="0" cy="0"/>
        </a:xfrm>
      </p:grpSpPr>
      <p:sp>
        <p:nvSpPr>
          <p:cNvPr id="163" name="Google Shape;163;p1"/>
          <p:cNvSpPr/>
          <p:nvPr/>
        </p:nvSpPr>
        <p:spPr>
          <a:xfrm>
            <a:off x="11527435" y="-104931"/>
            <a:ext cx="794479" cy="7240249"/>
          </a:xfrm>
          <a:prstGeom prst="rect">
            <a:avLst/>
          </a:prstGeom>
          <a:solidFill>
            <a:srgbClr val="4C70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logo on a black background&#10;&#10;AI-generated content may be incorrect." id="164" name="Google Shape;164;p1"/>
          <p:cNvPicPr preferRelativeResize="0"/>
          <p:nvPr/>
        </p:nvPicPr>
        <p:blipFill rotWithShape="1">
          <a:blip r:embed="rId3">
            <a:alphaModFix/>
          </a:blip>
          <a:srcRect b="0" l="0" r="0" t="0"/>
          <a:stretch/>
        </p:blipFill>
        <p:spPr>
          <a:xfrm>
            <a:off x="8752902" y="380584"/>
            <a:ext cx="2451100" cy="1270000"/>
          </a:xfrm>
          <a:prstGeom prst="rect">
            <a:avLst/>
          </a:prstGeom>
          <a:noFill/>
          <a:ln>
            <a:noFill/>
          </a:ln>
        </p:spPr>
      </p:pic>
      <p:pic>
        <p:nvPicPr>
          <p:cNvPr descr="A blue and black logo&#10;&#10;AI-generated content may be incorrect." id="165" name="Google Shape;165;p1"/>
          <p:cNvPicPr preferRelativeResize="0"/>
          <p:nvPr/>
        </p:nvPicPr>
        <p:blipFill rotWithShape="1">
          <a:blip r:embed="rId4">
            <a:alphaModFix/>
          </a:blip>
          <a:srcRect b="0" l="0" r="0" t="0"/>
          <a:stretch/>
        </p:blipFill>
        <p:spPr>
          <a:xfrm>
            <a:off x="265887" y="380584"/>
            <a:ext cx="1832735" cy="1255495"/>
          </a:xfrm>
          <a:prstGeom prst="rect">
            <a:avLst/>
          </a:prstGeom>
          <a:noFill/>
          <a:ln>
            <a:noFill/>
          </a:ln>
        </p:spPr>
      </p:pic>
      <p:sp>
        <p:nvSpPr>
          <p:cNvPr id="166" name="Google Shape;166;p1"/>
          <p:cNvSpPr txBox="1"/>
          <p:nvPr/>
        </p:nvSpPr>
        <p:spPr>
          <a:xfrm>
            <a:off x="2698181" y="2585749"/>
            <a:ext cx="61161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1" i="0" lang="en-CA" sz="5400" u="none" cap="small" strike="noStrike">
                <a:solidFill>
                  <a:srgbClr val="254374"/>
                </a:solidFill>
                <a:latin typeface="Avenir"/>
                <a:ea typeface="Avenir"/>
                <a:cs typeface="Avenir"/>
                <a:sym typeface="Avenir"/>
              </a:rPr>
              <a:t>Mapping a Target </a:t>
            </a:r>
            <a:endParaRPr b="0" i="0" sz="1400" u="none" cap="none" strike="noStrike">
              <a:solidFill>
                <a:srgbClr val="000000"/>
              </a:solidFill>
              <a:latin typeface="Arial"/>
              <a:ea typeface="Arial"/>
              <a:cs typeface="Arial"/>
              <a:sym typeface="Arial"/>
            </a:endParaRPr>
          </a:p>
        </p:txBody>
      </p:sp>
      <p:sp>
        <p:nvSpPr>
          <p:cNvPr id="167" name="Google Shape;167;p1"/>
          <p:cNvSpPr txBox="1"/>
          <p:nvPr/>
        </p:nvSpPr>
        <p:spPr>
          <a:xfrm>
            <a:off x="356632" y="3429000"/>
            <a:ext cx="10799100" cy="646500"/>
          </a:xfrm>
          <a:prstGeom prst="rect">
            <a:avLst/>
          </a:prstGeom>
          <a:solidFill>
            <a:srgbClr val="E0E8EB"/>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Attacker’s Perspective</a:t>
            </a:r>
            <a:endParaRPr b="0" i="0" sz="1400" u="none" cap="none" strike="noStrike">
              <a:solidFill>
                <a:srgbClr val="000000"/>
              </a:solidFill>
              <a:latin typeface="Arial"/>
              <a:ea typeface="Arial"/>
              <a:cs typeface="Arial"/>
              <a:sym typeface="Arial"/>
            </a:endParaRPr>
          </a:p>
        </p:txBody>
      </p:sp>
      <p:sp>
        <p:nvSpPr>
          <p:cNvPr id="168" name="Google Shape;168;p1"/>
          <p:cNvSpPr txBox="1"/>
          <p:nvPr/>
        </p:nvSpPr>
        <p:spPr>
          <a:xfrm>
            <a:off x="319790" y="5646419"/>
            <a:ext cx="6243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CA" sz="2400" u="none" cap="none" strike="noStrike">
                <a:solidFill>
                  <a:srgbClr val="156082"/>
                </a:solidFill>
                <a:latin typeface="Arial"/>
                <a:ea typeface="Arial"/>
                <a:cs typeface="Arial"/>
                <a:sym typeface="Arial"/>
              </a:rPr>
              <a:t>Presented by: Nathan Serre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CA" sz="2400" u="none" cap="none" strike="noStrike">
                <a:solidFill>
                  <a:srgbClr val="156082"/>
                </a:solidFill>
                <a:latin typeface="Arial"/>
                <a:ea typeface="Arial"/>
                <a:cs typeface="Arial"/>
                <a:sym typeface="Arial"/>
              </a:rPr>
              <a:t>Date: January 21, 2026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b915263988_0_83"/>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175" name="Google Shape;175;g3b915263988_0_83"/>
          <p:cNvPicPr preferRelativeResize="0"/>
          <p:nvPr/>
        </p:nvPicPr>
        <p:blipFill rotWithShape="1">
          <a:blip r:embed="rId3">
            <a:alphaModFix/>
          </a:blip>
          <a:srcRect b="0" l="0" r="0" t="0"/>
          <a:stretch/>
        </p:blipFill>
        <p:spPr>
          <a:xfrm>
            <a:off x="10710471" y="219111"/>
            <a:ext cx="697043" cy="697042"/>
          </a:xfrm>
          <a:prstGeom prst="rect">
            <a:avLst/>
          </a:prstGeom>
          <a:noFill/>
          <a:ln>
            <a:noFill/>
          </a:ln>
        </p:spPr>
      </p:pic>
      <p:sp>
        <p:nvSpPr>
          <p:cNvPr id="176" name="Google Shape;176;g3b915263988_0_83"/>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Operation Absolute Resolve</a:t>
            </a:r>
            <a:endParaRPr b="0" i="0" sz="1400" u="none" cap="none" strike="noStrike">
              <a:solidFill>
                <a:srgbClr val="000000"/>
              </a:solidFill>
              <a:latin typeface="Arial"/>
              <a:ea typeface="Arial"/>
              <a:cs typeface="Arial"/>
              <a:sym typeface="Arial"/>
            </a:endParaRPr>
          </a:p>
        </p:txBody>
      </p:sp>
      <p:sp>
        <p:nvSpPr>
          <p:cNvPr id="177" name="Google Shape;177;g3b915263988_0_83"/>
          <p:cNvSpPr txBox="1"/>
          <p:nvPr/>
        </p:nvSpPr>
        <p:spPr>
          <a:xfrm>
            <a:off x="674575" y="1175441"/>
            <a:ext cx="10035900" cy="40788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4200"/>
              <a:buFont typeface="Arial"/>
              <a:buChar char="•"/>
            </a:pPr>
            <a:r>
              <a:rPr b="0" i="0" lang="en-CA" sz="2800" u="none" cap="none" strike="noStrike">
                <a:solidFill>
                  <a:srgbClr val="000000"/>
                </a:solidFill>
                <a:latin typeface="Arial"/>
                <a:ea typeface="Arial"/>
                <a:cs typeface="Arial"/>
                <a:sym typeface="Arial"/>
              </a:rPr>
              <a:t>Full Disclosure: Most details are classified</a:t>
            </a:r>
            <a:endParaRPr b="0" i="0" sz="2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2800"/>
              <a:buFont typeface="Arial"/>
              <a:buChar char="•"/>
            </a:pPr>
            <a:r>
              <a:rPr b="0" i="0" lang="en-CA" sz="2800" u="none" cap="none" strike="noStrike">
                <a:solidFill>
                  <a:srgbClr val="000000"/>
                </a:solidFill>
                <a:latin typeface="Arial"/>
                <a:ea typeface="Arial"/>
                <a:cs typeface="Arial"/>
                <a:sym typeface="Arial"/>
              </a:rPr>
              <a:t>This is a speculative reconstruction</a:t>
            </a:r>
            <a:endParaRPr b="0" i="0" sz="2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2800"/>
              <a:buFont typeface="Arial"/>
              <a:buChar char="•"/>
            </a:pPr>
            <a:r>
              <a:rPr b="0" i="0" lang="en-CA" sz="2800" u="none" cap="none" strike="noStrike">
                <a:solidFill>
                  <a:srgbClr val="000000"/>
                </a:solidFill>
                <a:latin typeface="Arial"/>
                <a:ea typeface="Arial"/>
                <a:cs typeface="Arial"/>
                <a:sym typeface="Arial"/>
              </a:rPr>
              <a:t>The ideas and methodology presented here are based on public reports where possible</a:t>
            </a:r>
            <a:endParaRPr b="0" i="0" sz="2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2800"/>
              <a:buFont typeface="Arial"/>
              <a:buChar char="•"/>
            </a:pPr>
            <a:r>
              <a:rPr b="0" i="0" lang="en-CA" sz="2800" u="none" cap="none" strike="noStrike">
                <a:solidFill>
                  <a:srgbClr val="000000"/>
                </a:solidFill>
                <a:latin typeface="Arial"/>
                <a:ea typeface="Arial"/>
                <a:cs typeface="Arial"/>
                <a:sym typeface="Arial"/>
              </a:rPr>
              <a:t>Where facts regarding this specific case end we fill those gaps with knowledge about similar attacks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b915263988_0_172"/>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184" name="Google Shape;184;g3b915263988_0_172"/>
          <p:cNvPicPr preferRelativeResize="0"/>
          <p:nvPr/>
        </p:nvPicPr>
        <p:blipFill rotWithShape="1">
          <a:blip r:embed="rId3">
            <a:alphaModFix/>
          </a:blip>
          <a:srcRect b="0" l="0" r="0" t="0"/>
          <a:stretch/>
        </p:blipFill>
        <p:spPr>
          <a:xfrm>
            <a:off x="10710471" y="219111"/>
            <a:ext cx="697043" cy="697042"/>
          </a:xfrm>
          <a:prstGeom prst="rect">
            <a:avLst/>
          </a:prstGeom>
          <a:noFill/>
          <a:ln>
            <a:noFill/>
          </a:ln>
        </p:spPr>
      </p:pic>
      <p:sp>
        <p:nvSpPr>
          <p:cNvPr id="185" name="Google Shape;185;g3b915263988_0_172"/>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Operation Absolute Resolve</a:t>
            </a:r>
            <a:endParaRPr b="0" i="0" sz="1400" u="none" cap="none" strike="noStrike">
              <a:solidFill>
                <a:srgbClr val="000000"/>
              </a:solidFill>
              <a:latin typeface="Arial"/>
              <a:ea typeface="Arial"/>
              <a:cs typeface="Arial"/>
              <a:sym typeface="Arial"/>
            </a:endParaRPr>
          </a:p>
        </p:txBody>
      </p:sp>
      <p:sp>
        <p:nvSpPr>
          <p:cNvPr id="186" name="Google Shape;186;g3b915263988_0_172"/>
          <p:cNvSpPr txBox="1"/>
          <p:nvPr/>
        </p:nvSpPr>
        <p:spPr>
          <a:xfrm>
            <a:off x="565886" y="1225404"/>
            <a:ext cx="10035900" cy="4725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4200"/>
              <a:buFont typeface="Arial"/>
              <a:buChar char="•"/>
            </a:pPr>
            <a:r>
              <a:rPr b="0" i="0" lang="en-CA" sz="2800" u="none" cap="none" strike="noStrike">
                <a:solidFill>
                  <a:srgbClr val="000000"/>
                </a:solidFill>
                <a:latin typeface="Arial"/>
                <a:ea typeface="Arial"/>
                <a:cs typeface="Arial"/>
                <a:sym typeface="Arial"/>
              </a:rPr>
              <a:t>On January 3rd this year the US government launched an invasive strike on the capital of Venezuela, Caracas</a:t>
            </a:r>
            <a:endParaRPr b="0" i="0" sz="2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2800"/>
              <a:buFont typeface="Arial"/>
              <a:buChar char="•"/>
            </a:pPr>
            <a:r>
              <a:rPr b="0" i="0" lang="en-CA" sz="2800" u="none" cap="none" strike="noStrike">
                <a:solidFill>
                  <a:srgbClr val="000000"/>
                </a:solidFill>
                <a:latin typeface="Arial"/>
                <a:ea typeface="Arial"/>
                <a:cs typeface="Arial"/>
                <a:sym typeface="Arial"/>
              </a:rPr>
              <a:t>“The lights of Caracas were largely turned off due to a certain expertise that we have”</a:t>
            </a:r>
            <a:endParaRPr b="0" i="0" sz="28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2800"/>
              <a:buFont typeface="Arial"/>
              <a:buChar char="•"/>
            </a:pPr>
            <a:r>
              <a:rPr b="0" i="0" lang="en-CA" sz="2800" u="none" cap="none" strike="noStrike">
                <a:solidFill>
                  <a:srgbClr val="000000"/>
                </a:solidFill>
                <a:latin typeface="Arial"/>
                <a:ea typeface="Arial"/>
                <a:cs typeface="Arial"/>
                <a:sym typeface="Arial"/>
              </a:rPr>
              <a:t>This quote along with public reports from Caracas at the time of the attack heavily point to a cyber attack by the US government</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b915263988_0_343"/>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193" name="Google Shape;193;g3b915263988_0_343"/>
          <p:cNvPicPr preferRelativeResize="0"/>
          <p:nvPr/>
        </p:nvPicPr>
        <p:blipFill rotWithShape="1">
          <a:blip r:embed="rId3">
            <a:alphaModFix/>
          </a:blip>
          <a:srcRect b="0" l="0" r="0" t="0"/>
          <a:stretch/>
        </p:blipFill>
        <p:spPr>
          <a:xfrm>
            <a:off x="10710471" y="219111"/>
            <a:ext cx="697043" cy="697042"/>
          </a:xfrm>
          <a:prstGeom prst="rect">
            <a:avLst/>
          </a:prstGeom>
          <a:noFill/>
          <a:ln>
            <a:noFill/>
          </a:ln>
        </p:spPr>
      </p:pic>
      <p:sp>
        <p:nvSpPr>
          <p:cNvPr id="194" name="Google Shape;194;g3b915263988_0_343"/>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Glossary</a:t>
            </a:r>
            <a:endParaRPr b="0" i="0" sz="1400" u="none" cap="none" strike="noStrike">
              <a:solidFill>
                <a:srgbClr val="000000"/>
              </a:solidFill>
              <a:latin typeface="Arial"/>
              <a:ea typeface="Arial"/>
              <a:cs typeface="Arial"/>
              <a:sym typeface="Arial"/>
            </a:endParaRPr>
          </a:p>
        </p:txBody>
      </p:sp>
      <p:sp>
        <p:nvSpPr>
          <p:cNvPr id="195" name="Google Shape;195;g3b915263988_0_343"/>
          <p:cNvSpPr txBox="1"/>
          <p:nvPr/>
        </p:nvSpPr>
        <p:spPr>
          <a:xfrm>
            <a:off x="554636" y="1214204"/>
            <a:ext cx="10035900" cy="3755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ICS (Industrial Control System)</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SCADA (Supervisory Control and Data Transmission)</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PLC (Programmable Logic Controller)</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OT (Operational Technology)</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IT (Information Technology)</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RTO (Regional Transmission Operator)</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0" name="Shape 200"/>
        <p:cNvGrpSpPr/>
        <p:nvPr/>
      </p:nvGrpSpPr>
      <p:grpSpPr>
        <a:xfrm>
          <a:off x="0" y="0"/>
          <a:ext cx="0" cy="0"/>
          <a:chOff x="0" y="0"/>
          <a:chExt cx="0" cy="0"/>
        </a:xfrm>
      </p:grpSpPr>
      <p:sp>
        <p:nvSpPr>
          <p:cNvPr id="201" name="Google Shape;201;g3b915263988_0_335"/>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202" name="Google Shape;202;g3b915263988_0_335"/>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203" name="Google Shape;203;g3b915263988_0_335"/>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Red Team Targets</a:t>
            </a:r>
            <a:endParaRPr b="0" i="0" sz="1400" u="none" cap="none" strike="noStrike">
              <a:solidFill>
                <a:srgbClr val="000000"/>
              </a:solidFill>
              <a:latin typeface="Arial"/>
              <a:ea typeface="Arial"/>
              <a:cs typeface="Arial"/>
              <a:sym typeface="Arial"/>
            </a:endParaRPr>
          </a:p>
        </p:txBody>
      </p:sp>
      <p:sp>
        <p:nvSpPr>
          <p:cNvPr id="204" name="Google Shape;204;g3b915263988_0_335"/>
          <p:cNvSpPr txBox="1"/>
          <p:nvPr/>
        </p:nvSpPr>
        <p:spPr>
          <a:xfrm>
            <a:off x="554636" y="1214204"/>
            <a:ext cx="10035900" cy="2462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Regional transmission operator overseeing multi-state load balancing</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Hybrid IT/OT environment with shared identity services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Third-party vendors with remote access</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9" name="Shape 209"/>
        <p:cNvGrpSpPr/>
        <p:nvPr/>
      </p:nvGrpSpPr>
      <p:grpSpPr>
        <a:xfrm>
          <a:off x="0" y="0"/>
          <a:ext cx="0" cy="0"/>
          <a:chOff x="0" y="0"/>
          <a:chExt cx="0" cy="0"/>
        </a:xfrm>
      </p:grpSpPr>
      <p:sp>
        <p:nvSpPr>
          <p:cNvPr id="210" name="Google Shape;210;g3b915263988_0_327"/>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211" name="Google Shape;211;g3b915263988_0_327"/>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212" name="Google Shape;212;g3b915263988_0_327"/>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Blue Team Defenses</a:t>
            </a:r>
            <a:endParaRPr b="0" i="0" sz="1400" u="none" cap="none" strike="noStrike">
              <a:solidFill>
                <a:srgbClr val="000000"/>
              </a:solidFill>
              <a:latin typeface="Arial"/>
              <a:ea typeface="Arial"/>
              <a:cs typeface="Arial"/>
              <a:sym typeface="Arial"/>
            </a:endParaRPr>
          </a:p>
        </p:txBody>
      </p:sp>
      <p:sp>
        <p:nvSpPr>
          <p:cNvPr id="213" name="Google Shape;213;g3b915263988_0_327"/>
          <p:cNvSpPr txBox="1"/>
          <p:nvPr/>
        </p:nvSpPr>
        <p:spPr>
          <a:xfrm>
            <a:off x="554636" y="1214204"/>
            <a:ext cx="10035900" cy="3109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Segment systems whenever possible</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Do not use shared credentials across systems whenever possible</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Least privileges at all times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Zero Trust No Access</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b915263988_0_303"/>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220" name="Google Shape;220;g3b915263988_0_303"/>
          <p:cNvPicPr preferRelativeResize="0"/>
          <p:nvPr/>
        </p:nvPicPr>
        <p:blipFill rotWithShape="1">
          <a:blip r:embed="rId3">
            <a:alphaModFix/>
          </a:blip>
          <a:srcRect b="0" l="0" r="0" t="0"/>
          <a:stretch/>
        </p:blipFill>
        <p:spPr>
          <a:xfrm>
            <a:off x="10710471" y="219111"/>
            <a:ext cx="697043" cy="697042"/>
          </a:xfrm>
          <a:prstGeom prst="rect">
            <a:avLst/>
          </a:prstGeom>
          <a:noFill/>
          <a:ln>
            <a:noFill/>
          </a:ln>
        </p:spPr>
      </p:pic>
      <p:sp>
        <p:nvSpPr>
          <p:cNvPr id="221" name="Google Shape;221;g3b915263988_0_303"/>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Timeline</a:t>
            </a:r>
            <a:endParaRPr b="0" i="0" sz="1400" u="none" cap="none" strike="noStrike">
              <a:solidFill>
                <a:srgbClr val="000000"/>
              </a:solidFill>
              <a:latin typeface="Arial"/>
              <a:ea typeface="Arial"/>
              <a:cs typeface="Arial"/>
              <a:sym typeface="Arial"/>
            </a:endParaRPr>
          </a:p>
        </p:txBody>
      </p:sp>
      <p:grpSp>
        <p:nvGrpSpPr>
          <p:cNvPr id="222" name="Google Shape;222;g3b915263988_0_303"/>
          <p:cNvGrpSpPr/>
          <p:nvPr/>
        </p:nvGrpSpPr>
        <p:grpSpPr>
          <a:xfrm>
            <a:off x="52" y="1617069"/>
            <a:ext cx="3003548" cy="3789751"/>
            <a:chOff x="1083025" y="1574025"/>
            <a:chExt cx="1834900" cy="2315200"/>
          </a:xfrm>
        </p:grpSpPr>
        <p:sp>
          <p:nvSpPr>
            <p:cNvPr id="223" name="Google Shape;223;g3b915263988_0_303"/>
            <p:cNvSpPr txBox="1"/>
            <p:nvPr/>
          </p:nvSpPr>
          <p:spPr>
            <a:xfrm>
              <a:off x="1604274" y="1574025"/>
              <a:ext cx="624300" cy="241200"/>
            </a:xfrm>
            <a:prstGeom prst="rect">
              <a:avLst/>
            </a:prstGeom>
            <a:noFill/>
            <a:ln>
              <a:noFill/>
            </a:ln>
          </p:spPr>
          <p:txBody>
            <a:bodyPr anchorCtr="0" anchor="t" bIns="149650" lIns="149650" spcFirstLastPara="1" rIns="149650" wrap="square" tIns="149650">
              <a:noAutofit/>
            </a:bodyPr>
            <a:lstStyle/>
            <a:p>
              <a:pPr indent="0" lvl="0" marL="0" rtl="0" algn="r">
                <a:lnSpc>
                  <a:spcPct val="115000"/>
                </a:lnSpc>
                <a:spcBef>
                  <a:spcPts val="0"/>
                </a:spcBef>
                <a:spcAft>
                  <a:spcPts val="2578"/>
                </a:spcAft>
                <a:buNone/>
              </a:pPr>
              <a:r>
                <a:rPr lang="en-CA" sz="1350">
                  <a:solidFill>
                    <a:srgbClr val="A7291E"/>
                  </a:solidFill>
                  <a:latin typeface="Roboto"/>
                  <a:ea typeface="Roboto"/>
                  <a:cs typeface="Roboto"/>
                  <a:sym typeface="Roboto"/>
                </a:rPr>
                <a:t>Months/Weeks</a:t>
              </a:r>
              <a:endParaRPr sz="1350">
                <a:solidFill>
                  <a:srgbClr val="A7291E"/>
                </a:solidFill>
                <a:latin typeface="Roboto"/>
                <a:ea typeface="Roboto"/>
                <a:cs typeface="Roboto"/>
                <a:sym typeface="Roboto"/>
              </a:endParaRPr>
            </a:p>
          </p:txBody>
        </p:sp>
        <p:sp>
          <p:nvSpPr>
            <p:cNvPr id="224" name="Google Shape;224;g3b915263988_0_303"/>
            <p:cNvSpPr txBox="1"/>
            <p:nvPr/>
          </p:nvSpPr>
          <p:spPr>
            <a:xfrm>
              <a:off x="1235825" y="2695025"/>
              <a:ext cx="1505100" cy="446400"/>
            </a:xfrm>
            <a:prstGeom prst="rect">
              <a:avLst/>
            </a:prstGeom>
            <a:noFill/>
            <a:ln>
              <a:noFill/>
            </a:ln>
          </p:spPr>
          <p:txBody>
            <a:bodyPr anchorCtr="0" anchor="b" bIns="149650" lIns="149650" spcFirstLastPara="1" rIns="149650" wrap="square" tIns="149650">
              <a:noAutofit/>
            </a:bodyPr>
            <a:lstStyle/>
            <a:p>
              <a:pPr indent="0" lvl="0" marL="0" rtl="0" algn="l">
                <a:lnSpc>
                  <a:spcPct val="115000"/>
                </a:lnSpc>
                <a:spcBef>
                  <a:spcPts val="0"/>
                </a:spcBef>
                <a:spcAft>
                  <a:spcPts val="0"/>
                </a:spcAft>
                <a:buNone/>
              </a:pPr>
              <a:r>
                <a:rPr b="1" lang="en-CA" sz="1595">
                  <a:solidFill>
                    <a:srgbClr val="A7291E"/>
                  </a:solidFill>
                  <a:latin typeface="Roboto"/>
                  <a:ea typeface="Roboto"/>
                  <a:cs typeface="Roboto"/>
                  <a:sym typeface="Roboto"/>
                </a:rPr>
                <a:t>Reconnaissance &amp; OSINT</a:t>
              </a:r>
              <a:endParaRPr b="1" sz="1595">
                <a:solidFill>
                  <a:srgbClr val="A7291E"/>
                </a:solidFill>
                <a:latin typeface="Roboto"/>
                <a:ea typeface="Roboto"/>
                <a:cs typeface="Roboto"/>
                <a:sym typeface="Roboto"/>
              </a:endParaRPr>
            </a:p>
          </p:txBody>
        </p:sp>
        <p:sp>
          <p:nvSpPr>
            <p:cNvPr id="225" name="Google Shape;225;g3b915263988_0_303"/>
            <p:cNvSpPr txBox="1"/>
            <p:nvPr/>
          </p:nvSpPr>
          <p:spPr>
            <a:xfrm>
              <a:off x="1215700" y="3151825"/>
              <a:ext cx="1545600" cy="737400"/>
            </a:xfrm>
            <a:prstGeom prst="rect">
              <a:avLst/>
            </a:prstGeom>
            <a:noFill/>
            <a:ln>
              <a:noFill/>
            </a:ln>
          </p:spPr>
          <p:txBody>
            <a:bodyPr anchorCtr="0" anchor="t" bIns="149650" lIns="149650" spcFirstLastPara="1" rIns="149650" wrap="square" tIns="149650">
              <a:noAutofit/>
            </a:bodyPr>
            <a:lstStyle/>
            <a:p>
              <a:pPr indent="0" lvl="0" marL="0" rtl="0" algn="l">
                <a:lnSpc>
                  <a:spcPct val="115000"/>
                </a:lnSpc>
                <a:spcBef>
                  <a:spcPts val="0"/>
                </a:spcBef>
                <a:spcAft>
                  <a:spcPts val="2578"/>
                </a:spcAft>
                <a:buNone/>
              </a:pPr>
              <a:r>
                <a:t/>
              </a:r>
              <a:endParaRPr sz="1350">
                <a:solidFill>
                  <a:srgbClr val="A7291E"/>
                </a:solidFill>
                <a:latin typeface="Roboto"/>
                <a:ea typeface="Roboto"/>
                <a:cs typeface="Roboto"/>
                <a:sym typeface="Roboto"/>
              </a:endParaRPr>
            </a:p>
          </p:txBody>
        </p:sp>
        <p:cxnSp>
          <p:nvCxnSpPr>
            <p:cNvPr id="226" name="Google Shape;226;g3b915263988_0_303"/>
            <p:cNvCxnSpPr/>
            <p:nvPr/>
          </p:nvCxnSpPr>
          <p:spPr>
            <a:xfrm>
              <a:off x="2180202" y="1695421"/>
              <a:ext cx="718500" cy="741900"/>
            </a:xfrm>
            <a:prstGeom prst="straightConnector1">
              <a:avLst/>
            </a:prstGeom>
            <a:noFill/>
            <a:ln cap="flat" cmpd="sng" w="9525">
              <a:solidFill>
                <a:srgbClr val="B02B20"/>
              </a:solidFill>
              <a:prstDash val="solid"/>
              <a:round/>
              <a:headEnd len="sm" w="sm" type="none"/>
              <a:tailEnd len="sm" w="sm" type="none"/>
            </a:ln>
          </p:spPr>
        </p:cxnSp>
        <p:sp>
          <p:nvSpPr>
            <p:cNvPr id="227" name="Google Shape;227;g3b915263988_0_303"/>
            <p:cNvSpPr/>
            <p:nvPr/>
          </p:nvSpPr>
          <p:spPr>
            <a:xfrm flipH="1">
              <a:off x="1083025" y="2306625"/>
              <a:ext cx="1834800" cy="143400"/>
            </a:xfrm>
            <a:prstGeom prst="parallelogram">
              <a:avLst>
                <a:gd fmla="val 96952" name="adj"/>
              </a:avLst>
            </a:prstGeom>
            <a:solidFill>
              <a:srgbClr val="B02B20"/>
            </a:solidFill>
            <a:ln>
              <a:noFill/>
            </a:ln>
          </p:spPr>
          <p:txBody>
            <a:bodyPr anchorCtr="0" anchor="ctr" bIns="149650" lIns="149650" spcFirstLastPara="1" rIns="149650" wrap="square" tIns="149650">
              <a:noAutofit/>
            </a:bodyPr>
            <a:lstStyle/>
            <a:p>
              <a:pPr indent="0" lvl="0" marL="0" rtl="0" algn="l">
                <a:spcBef>
                  <a:spcPts val="0"/>
                </a:spcBef>
                <a:spcAft>
                  <a:spcPts val="0"/>
                </a:spcAft>
                <a:buNone/>
              </a:pPr>
              <a:r>
                <a:rPr lang="en-CA" sz="2332"/>
                <a:t>  </a:t>
              </a:r>
              <a:endParaRPr sz="2332"/>
            </a:p>
          </p:txBody>
        </p:sp>
        <p:sp>
          <p:nvSpPr>
            <p:cNvPr id="228" name="Google Shape;228;g3b915263988_0_303"/>
            <p:cNvSpPr/>
            <p:nvPr/>
          </p:nvSpPr>
          <p:spPr>
            <a:xfrm>
              <a:off x="1083125" y="2460449"/>
              <a:ext cx="1834800" cy="143400"/>
            </a:xfrm>
            <a:prstGeom prst="parallelogram">
              <a:avLst>
                <a:gd fmla="val 96952" name="adj"/>
              </a:avLst>
            </a:prstGeom>
            <a:solidFill>
              <a:srgbClr val="801F17"/>
            </a:solidFill>
            <a:ln>
              <a:noFill/>
            </a:ln>
          </p:spPr>
          <p:txBody>
            <a:bodyPr anchorCtr="0" anchor="ctr" bIns="149650" lIns="149650" spcFirstLastPara="1" rIns="149650" wrap="square" tIns="149650">
              <a:noAutofit/>
            </a:bodyPr>
            <a:lstStyle/>
            <a:p>
              <a:pPr indent="0" lvl="0" marL="0" rtl="0" algn="l">
                <a:spcBef>
                  <a:spcPts val="0"/>
                </a:spcBef>
                <a:spcAft>
                  <a:spcPts val="0"/>
                </a:spcAft>
                <a:buNone/>
              </a:pPr>
              <a:r>
                <a:t/>
              </a:r>
              <a:endParaRPr/>
            </a:p>
          </p:txBody>
        </p:sp>
      </p:grpSp>
      <p:grpSp>
        <p:nvGrpSpPr>
          <p:cNvPr id="229" name="Google Shape;229;g3b915263988_0_303"/>
          <p:cNvGrpSpPr/>
          <p:nvPr/>
        </p:nvGrpSpPr>
        <p:grpSpPr>
          <a:xfrm>
            <a:off x="2797427" y="1617069"/>
            <a:ext cx="3003548" cy="3789751"/>
            <a:chOff x="1083025" y="1574025"/>
            <a:chExt cx="1834900" cy="2315200"/>
          </a:xfrm>
        </p:grpSpPr>
        <p:sp>
          <p:nvSpPr>
            <p:cNvPr id="230" name="Google Shape;230;g3b915263988_0_303"/>
            <p:cNvSpPr txBox="1"/>
            <p:nvPr/>
          </p:nvSpPr>
          <p:spPr>
            <a:xfrm>
              <a:off x="1604274" y="1574025"/>
              <a:ext cx="624300" cy="241200"/>
            </a:xfrm>
            <a:prstGeom prst="rect">
              <a:avLst/>
            </a:prstGeom>
            <a:noFill/>
            <a:ln>
              <a:noFill/>
            </a:ln>
          </p:spPr>
          <p:txBody>
            <a:bodyPr anchorCtr="0" anchor="t" bIns="149650" lIns="149650" spcFirstLastPara="1" rIns="149650" wrap="square" tIns="149650">
              <a:noAutofit/>
            </a:bodyPr>
            <a:lstStyle/>
            <a:p>
              <a:pPr indent="0" lvl="0" marL="0" rtl="0" algn="r">
                <a:lnSpc>
                  <a:spcPct val="115000"/>
                </a:lnSpc>
                <a:spcBef>
                  <a:spcPts val="0"/>
                </a:spcBef>
                <a:spcAft>
                  <a:spcPts val="2578"/>
                </a:spcAft>
                <a:buNone/>
              </a:pPr>
              <a:r>
                <a:rPr lang="en-CA" sz="1350">
                  <a:solidFill>
                    <a:srgbClr val="A7291E"/>
                  </a:solidFill>
                  <a:latin typeface="Roboto"/>
                  <a:ea typeface="Roboto"/>
                  <a:cs typeface="Roboto"/>
                  <a:sym typeface="Roboto"/>
                </a:rPr>
                <a:t>Weeks/ Days</a:t>
              </a:r>
              <a:endParaRPr sz="1350">
                <a:solidFill>
                  <a:srgbClr val="A7291E"/>
                </a:solidFill>
                <a:latin typeface="Roboto"/>
                <a:ea typeface="Roboto"/>
                <a:cs typeface="Roboto"/>
                <a:sym typeface="Roboto"/>
              </a:endParaRPr>
            </a:p>
          </p:txBody>
        </p:sp>
        <p:sp>
          <p:nvSpPr>
            <p:cNvPr id="231" name="Google Shape;231;g3b915263988_0_303"/>
            <p:cNvSpPr txBox="1"/>
            <p:nvPr/>
          </p:nvSpPr>
          <p:spPr>
            <a:xfrm>
              <a:off x="1235825" y="2695025"/>
              <a:ext cx="1505100" cy="446400"/>
            </a:xfrm>
            <a:prstGeom prst="rect">
              <a:avLst/>
            </a:prstGeom>
            <a:noFill/>
            <a:ln>
              <a:noFill/>
            </a:ln>
          </p:spPr>
          <p:txBody>
            <a:bodyPr anchorCtr="0" anchor="b" bIns="149650" lIns="149650" spcFirstLastPara="1" rIns="149650" wrap="square" tIns="149650">
              <a:noAutofit/>
            </a:bodyPr>
            <a:lstStyle/>
            <a:p>
              <a:pPr indent="0" lvl="0" marL="0" rtl="0" algn="l">
                <a:lnSpc>
                  <a:spcPct val="115000"/>
                </a:lnSpc>
                <a:spcBef>
                  <a:spcPts val="0"/>
                </a:spcBef>
                <a:spcAft>
                  <a:spcPts val="0"/>
                </a:spcAft>
                <a:buNone/>
              </a:pPr>
              <a:r>
                <a:rPr b="1" lang="en-CA" sz="1595">
                  <a:solidFill>
                    <a:srgbClr val="A7291E"/>
                  </a:solidFill>
                  <a:latin typeface="Roboto"/>
                  <a:ea typeface="Roboto"/>
                  <a:cs typeface="Roboto"/>
                  <a:sym typeface="Roboto"/>
                </a:rPr>
                <a:t>Initial Access</a:t>
              </a:r>
              <a:endParaRPr b="1" sz="1595">
                <a:solidFill>
                  <a:srgbClr val="A7291E"/>
                </a:solidFill>
                <a:latin typeface="Roboto"/>
                <a:ea typeface="Roboto"/>
                <a:cs typeface="Roboto"/>
                <a:sym typeface="Roboto"/>
              </a:endParaRPr>
            </a:p>
          </p:txBody>
        </p:sp>
        <p:sp>
          <p:nvSpPr>
            <p:cNvPr id="232" name="Google Shape;232;g3b915263988_0_303"/>
            <p:cNvSpPr txBox="1"/>
            <p:nvPr/>
          </p:nvSpPr>
          <p:spPr>
            <a:xfrm>
              <a:off x="1215700" y="3151825"/>
              <a:ext cx="1545600" cy="737400"/>
            </a:xfrm>
            <a:prstGeom prst="rect">
              <a:avLst/>
            </a:prstGeom>
            <a:noFill/>
            <a:ln>
              <a:noFill/>
            </a:ln>
          </p:spPr>
          <p:txBody>
            <a:bodyPr anchorCtr="0" anchor="t" bIns="149650" lIns="149650" spcFirstLastPara="1" rIns="149650" wrap="square" tIns="149650">
              <a:noAutofit/>
            </a:bodyPr>
            <a:lstStyle/>
            <a:p>
              <a:pPr indent="0" lvl="0" marL="0" rtl="0" algn="l">
                <a:lnSpc>
                  <a:spcPct val="115000"/>
                </a:lnSpc>
                <a:spcBef>
                  <a:spcPts val="0"/>
                </a:spcBef>
                <a:spcAft>
                  <a:spcPts val="2578"/>
                </a:spcAft>
                <a:buNone/>
              </a:pPr>
              <a:r>
                <a:t/>
              </a:r>
              <a:endParaRPr sz="1350">
                <a:solidFill>
                  <a:srgbClr val="A7291E"/>
                </a:solidFill>
                <a:latin typeface="Roboto"/>
                <a:ea typeface="Roboto"/>
                <a:cs typeface="Roboto"/>
                <a:sym typeface="Roboto"/>
              </a:endParaRPr>
            </a:p>
          </p:txBody>
        </p:sp>
        <p:cxnSp>
          <p:nvCxnSpPr>
            <p:cNvPr id="233" name="Google Shape;233;g3b915263988_0_303"/>
            <p:cNvCxnSpPr/>
            <p:nvPr/>
          </p:nvCxnSpPr>
          <p:spPr>
            <a:xfrm>
              <a:off x="2180202" y="1695421"/>
              <a:ext cx="718500" cy="741900"/>
            </a:xfrm>
            <a:prstGeom prst="straightConnector1">
              <a:avLst/>
            </a:prstGeom>
            <a:noFill/>
            <a:ln cap="flat" cmpd="sng" w="9525">
              <a:solidFill>
                <a:srgbClr val="B02B20"/>
              </a:solidFill>
              <a:prstDash val="solid"/>
              <a:round/>
              <a:headEnd len="sm" w="sm" type="none"/>
              <a:tailEnd len="sm" w="sm" type="none"/>
            </a:ln>
          </p:spPr>
        </p:cxnSp>
        <p:sp>
          <p:nvSpPr>
            <p:cNvPr id="234" name="Google Shape;234;g3b915263988_0_303"/>
            <p:cNvSpPr/>
            <p:nvPr/>
          </p:nvSpPr>
          <p:spPr>
            <a:xfrm flipH="1">
              <a:off x="1083025" y="2306625"/>
              <a:ext cx="1834800" cy="143400"/>
            </a:xfrm>
            <a:prstGeom prst="parallelogram">
              <a:avLst>
                <a:gd fmla="val 96952" name="adj"/>
              </a:avLst>
            </a:prstGeom>
            <a:solidFill>
              <a:srgbClr val="B02B20"/>
            </a:solidFill>
            <a:ln>
              <a:noFill/>
            </a:ln>
          </p:spPr>
          <p:txBody>
            <a:bodyPr anchorCtr="0" anchor="ctr" bIns="149650" lIns="149650" spcFirstLastPara="1" rIns="149650" wrap="square" tIns="149650">
              <a:noAutofit/>
            </a:bodyPr>
            <a:lstStyle/>
            <a:p>
              <a:pPr indent="0" lvl="0" marL="0" rtl="0" algn="l">
                <a:spcBef>
                  <a:spcPts val="0"/>
                </a:spcBef>
                <a:spcAft>
                  <a:spcPts val="0"/>
                </a:spcAft>
                <a:buNone/>
              </a:pPr>
              <a:r>
                <a:rPr lang="en-CA" sz="2332"/>
                <a:t>  </a:t>
              </a:r>
              <a:endParaRPr sz="2332"/>
            </a:p>
          </p:txBody>
        </p:sp>
        <p:sp>
          <p:nvSpPr>
            <p:cNvPr id="235" name="Google Shape;235;g3b915263988_0_303"/>
            <p:cNvSpPr/>
            <p:nvPr/>
          </p:nvSpPr>
          <p:spPr>
            <a:xfrm>
              <a:off x="1083125" y="2460449"/>
              <a:ext cx="1834800" cy="143400"/>
            </a:xfrm>
            <a:prstGeom prst="parallelogram">
              <a:avLst>
                <a:gd fmla="val 96952" name="adj"/>
              </a:avLst>
            </a:prstGeom>
            <a:solidFill>
              <a:srgbClr val="801F17"/>
            </a:solidFill>
            <a:ln>
              <a:noFill/>
            </a:ln>
          </p:spPr>
          <p:txBody>
            <a:bodyPr anchorCtr="0" anchor="ctr" bIns="149650" lIns="149650" spcFirstLastPara="1" rIns="149650" wrap="square" tIns="149650">
              <a:noAutofit/>
            </a:bodyPr>
            <a:lstStyle/>
            <a:p>
              <a:pPr indent="0" lvl="0" marL="0" rtl="0" algn="l">
                <a:spcBef>
                  <a:spcPts val="0"/>
                </a:spcBef>
                <a:spcAft>
                  <a:spcPts val="0"/>
                </a:spcAft>
                <a:buNone/>
              </a:pPr>
              <a:r>
                <a:t/>
              </a:r>
              <a:endParaRPr/>
            </a:p>
          </p:txBody>
        </p:sp>
      </p:grpSp>
      <p:grpSp>
        <p:nvGrpSpPr>
          <p:cNvPr id="236" name="Google Shape;236;g3b915263988_0_303"/>
          <p:cNvGrpSpPr/>
          <p:nvPr/>
        </p:nvGrpSpPr>
        <p:grpSpPr>
          <a:xfrm>
            <a:off x="5599543" y="1615905"/>
            <a:ext cx="3003548" cy="3789751"/>
            <a:chOff x="1083025" y="1574025"/>
            <a:chExt cx="1834900" cy="2315200"/>
          </a:xfrm>
        </p:grpSpPr>
        <p:sp>
          <p:nvSpPr>
            <p:cNvPr id="237" name="Google Shape;237;g3b915263988_0_303"/>
            <p:cNvSpPr txBox="1"/>
            <p:nvPr/>
          </p:nvSpPr>
          <p:spPr>
            <a:xfrm>
              <a:off x="1604274" y="1574025"/>
              <a:ext cx="624300" cy="241200"/>
            </a:xfrm>
            <a:prstGeom prst="rect">
              <a:avLst/>
            </a:prstGeom>
            <a:noFill/>
            <a:ln>
              <a:noFill/>
            </a:ln>
          </p:spPr>
          <p:txBody>
            <a:bodyPr anchorCtr="0" anchor="t" bIns="149650" lIns="149650" spcFirstLastPara="1" rIns="149650" wrap="square" tIns="149650">
              <a:noAutofit/>
            </a:bodyPr>
            <a:lstStyle/>
            <a:p>
              <a:pPr indent="0" lvl="0" marL="0" rtl="0" algn="r">
                <a:lnSpc>
                  <a:spcPct val="115000"/>
                </a:lnSpc>
                <a:spcBef>
                  <a:spcPts val="0"/>
                </a:spcBef>
                <a:spcAft>
                  <a:spcPts val="2578"/>
                </a:spcAft>
                <a:buNone/>
              </a:pPr>
              <a:r>
                <a:rPr lang="en-CA" sz="1350">
                  <a:solidFill>
                    <a:srgbClr val="858585"/>
                  </a:solidFill>
                  <a:latin typeface="Roboto"/>
                  <a:ea typeface="Roboto"/>
                  <a:cs typeface="Roboto"/>
                  <a:sym typeface="Roboto"/>
                </a:rPr>
                <a:t>Days/   Hours</a:t>
              </a:r>
              <a:endParaRPr sz="1350">
                <a:solidFill>
                  <a:srgbClr val="858585"/>
                </a:solidFill>
                <a:latin typeface="Roboto"/>
                <a:ea typeface="Roboto"/>
                <a:cs typeface="Roboto"/>
                <a:sym typeface="Roboto"/>
              </a:endParaRPr>
            </a:p>
          </p:txBody>
        </p:sp>
        <p:sp>
          <p:nvSpPr>
            <p:cNvPr id="238" name="Google Shape;238;g3b915263988_0_303"/>
            <p:cNvSpPr txBox="1"/>
            <p:nvPr/>
          </p:nvSpPr>
          <p:spPr>
            <a:xfrm>
              <a:off x="1235825" y="2695025"/>
              <a:ext cx="1505100" cy="446400"/>
            </a:xfrm>
            <a:prstGeom prst="rect">
              <a:avLst/>
            </a:prstGeom>
            <a:noFill/>
            <a:ln>
              <a:noFill/>
            </a:ln>
          </p:spPr>
          <p:txBody>
            <a:bodyPr anchorCtr="0" anchor="b" bIns="149650" lIns="149650" spcFirstLastPara="1" rIns="149650" wrap="square" tIns="149650">
              <a:noAutofit/>
            </a:bodyPr>
            <a:lstStyle/>
            <a:p>
              <a:pPr indent="0" lvl="0" marL="0" rtl="0" algn="l">
                <a:lnSpc>
                  <a:spcPct val="115000"/>
                </a:lnSpc>
                <a:spcBef>
                  <a:spcPts val="0"/>
                </a:spcBef>
                <a:spcAft>
                  <a:spcPts val="0"/>
                </a:spcAft>
                <a:buNone/>
              </a:pPr>
              <a:r>
                <a:rPr b="1" lang="en-CA" sz="1595">
                  <a:solidFill>
                    <a:srgbClr val="858585"/>
                  </a:solidFill>
                  <a:latin typeface="Roboto"/>
                  <a:ea typeface="Roboto"/>
                  <a:cs typeface="Roboto"/>
                  <a:sym typeface="Roboto"/>
                </a:rPr>
                <a:t>IT -&gt; OT Pivot</a:t>
              </a:r>
              <a:endParaRPr b="1" sz="1595">
                <a:solidFill>
                  <a:srgbClr val="858585"/>
                </a:solidFill>
                <a:latin typeface="Roboto"/>
                <a:ea typeface="Roboto"/>
                <a:cs typeface="Roboto"/>
                <a:sym typeface="Roboto"/>
              </a:endParaRPr>
            </a:p>
          </p:txBody>
        </p:sp>
        <p:sp>
          <p:nvSpPr>
            <p:cNvPr id="239" name="Google Shape;239;g3b915263988_0_303"/>
            <p:cNvSpPr txBox="1"/>
            <p:nvPr/>
          </p:nvSpPr>
          <p:spPr>
            <a:xfrm>
              <a:off x="1215700" y="3151825"/>
              <a:ext cx="1545600" cy="737400"/>
            </a:xfrm>
            <a:prstGeom prst="rect">
              <a:avLst/>
            </a:prstGeom>
            <a:noFill/>
            <a:ln>
              <a:noFill/>
            </a:ln>
          </p:spPr>
          <p:txBody>
            <a:bodyPr anchorCtr="0" anchor="t" bIns="149650" lIns="149650" spcFirstLastPara="1" rIns="149650" wrap="square" tIns="149650">
              <a:noAutofit/>
            </a:bodyPr>
            <a:lstStyle/>
            <a:p>
              <a:pPr indent="0" lvl="0" marL="0" rtl="0" algn="l">
                <a:lnSpc>
                  <a:spcPct val="115000"/>
                </a:lnSpc>
                <a:spcBef>
                  <a:spcPts val="0"/>
                </a:spcBef>
                <a:spcAft>
                  <a:spcPts val="2578"/>
                </a:spcAft>
                <a:buNone/>
              </a:pPr>
              <a:r>
                <a:t/>
              </a:r>
              <a:endParaRPr sz="1350">
                <a:solidFill>
                  <a:srgbClr val="858585"/>
                </a:solidFill>
                <a:latin typeface="Roboto"/>
                <a:ea typeface="Roboto"/>
                <a:cs typeface="Roboto"/>
                <a:sym typeface="Roboto"/>
              </a:endParaRPr>
            </a:p>
          </p:txBody>
        </p:sp>
        <p:cxnSp>
          <p:nvCxnSpPr>
            <p:cNvPr id="240" name="Google Shape;240;g3b915263988_0_303"/>
            <p:cNvCxnSpPr/>
            <p:nvPr/>
          </p:nvCxnSpPr>
          <p:spPr>
            <a:xfrm>
              <a:off x="2180202"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41" name="Google Shape;241;g3b915263988_0_303"/>
            <p:cNvSpPr/>
            <p:nvPr/>
          </p:nvSpPr>
          <p:spPr>
            <a:xfrm flipH="1">
              <a:off x="1083025" y="2306625"/>
              <a:ext cx="1834800" cy="143400"/>
            </a:xfrm>
            <a:prstGeom prst="parallelogram">
              <a:avLst>
                <a:gd fmla="val 96952" name="adj"/>
              </a:avLst>
            </a:prstGeom>
            <a:solidFill>
              <a:srgbClr val="C2C2C2"/>
            </a:solidFill>
            <a:ln>
              <a:noFill/>
            </a:ln>
          </p:spPr>
          <p:txBody>
            <a:bodyPr anchorCtr="0" anchor="ctr" bIns="149650" lIns="149650" spcFirstLastPara="1" rIns="149650" wrap="square" tIns="149650">
              <a:noAutofit/>
            </a:bodyPr>
            <a:lstStyle/>
            <a:p>
              <a:pPr indent="0" lvl="0" marL="0" rtl="0" algn="l">
                <a:spcBef>
                  <a:spcPts val="0"/>
                </a:spcBef>
                <a:spcAft>
                  <a:spcPts val="0"/>
                </a:spcAft>
                <a:buNone/>
              </a:pPr>
              <a:r>
                <a:rPr lang="en-CA" sz="2332"/>
                <a:t>  </a:t>
              </a:r>
              <a:endParaRPr sz="2332"/>
            </a:p>
          </p:txBody>
        </p:sp>
        <p:sp>
          <p:nvSpPr>
            <p:cNvPr id="242" name="Google Shape;242;g3b915263988_0_303"/>
            <p:cNvSpPr/>
            <p:nvPr/>
          </p:nvSpPr>
          <p:spPr>
            <a:xfrm>
              <a:off x="1083125" y="2460449"/>
              <a:ext cx="1834800" cy="143400"/>
            </a:xfrm>
            <a:prstGeom prst="parallelogram">
              <a:avLst>
                <a:gd fmla="val 96952" name="adj"/>
              </a:avLst>
            </a:prstGeom>
            <a:solidFill>
              <a:srgbClr val="858585"/>
            </a:solidFill>
            <a:ln>
              <a:noFill/>
            </a:ln>
          </p:spPr>
          <p:txBody>
            <a:bodyPr anchorCtr="0" anchor="ctr" bIns="149650" lIns="149650" spcFirstLastPara="1" rIns="149650" wrap="square" tIns="149650">
              <a:noAutofit/>
            </a:bodyPr>
            <a:lstStyle/>
            <a:p>
              <a:pPr indent="0" lvl="0" marL="0" rtl="0" algn="l">
                <a:spcBef>
                  <a:spcPts val="0"/>
                </a:spcBef>
                <a:spcAft>
                  <a:spcPts val="0"/>
                </a:spcAft>
                <a:buNone/>
              </a:pPr>
              <a:r>
                <a:t/>
              </a:r>
              <a:endParaRPr/>
            </a:p>
          </p:txBody>
        </p:sp>
      </p:grpSp>
      <p:grpSp>
        <p:nvGrpSpPr>
          <p:cNvPr id="243" name="Google Shape;243;g3b915263988_0_303"/>
          <p:cNvGrpSpPr/>
          <p:nvPr/>
        </p:nvGrpSpPr>
        <p:grpSpPr>
          <a:xfrm>
            <a:off x="8403981" y="1615887"/>
            <a:ext cx="3003548" cy="3789751"/>
            <a:chOff x="1083025" y="1574025"/>
            <a:chExt cx="1834900" cy="2315200"/>
          </a:xfrm>
        </p:grpSpPr>
        <p:sp>
          <p:nvSpPr>
            <p:cNvPr id="244" name="Google Shape;244;g3b915263988_0_303"/>
            <p:cNvSpPr txBox="1"/>
            <p:nvPr/>
          </p:nvSpPr>
          <p:spPr>
            <a:xfrm>
              <a:off x="1604274" y="1574025"/>
              <a:ext cx="624300" cy="241200"/>
            </a:xfrm>
            <a:prstGeom prst="rect">
              <a:avLst/>
            </a:prstGeom>
            <a:noFill/>
            <a:ln>
              <a:noFill/>
            </a:ln>
          </p:spPr>
          <p:txBody>
            <a:bodyPr anchorCtr="0" anchor="t" bIns="149650" lIns="149650" spcFirstLastPara="1" rIns="149650" wrap="square" tIns="149650">
              <a:noAutofit/>
            </a:bodyPr>
            <a:lstStyle/>
            <a:p>
              <a:pPr indent="0" lvl="0" marL="0" rtl="0" algn="r">
                <a:lnSpc>
                  <a:spcPct val="115000"/>
                </a:lnSpc>
                <a:spcBef>
                  <a:spcPts val="0"/>
                </a:spcBef>
                <a:spcAft>
                  <a:spcPts val="2578"/>
                </a:spcAft>
                <a:buNone/>
              </a:pPr>
              <a:r>
                <a:rPr lang="en-CA" sz="1350">
                  <a:solidFill>
                    <a:srgbClr val="858585"/>
                  </a:solidFill>
                  <a:latin typeface="Roboto"/>
                  <a:ea typeface="Roboto"/>
                  <a:cs typeface="Roboto"/>
                  <a:sym typeface="Roboto"/>
                </a:rPr>
                <a:t>Minutes</a:t>
              </a:r>
              <a:endParaRPr sz="1350">
                <a:solidFill>
                  <a:srgbClr val="858585"/>
                </a:solidFill>
                <a:latin typeface="Roboto"/>
                <a:ea typeface="Roboto"/>
                <a:cs typeface="Roboto"/>
                <a:sym typeface="Roboto"/>
              </a:endParaRPr>
            </a:p>
          </p:txBody>
        </p:sp>
        <p:sp>
          <p:nvSpPr>
            <p:cNvPr id="245" name="Google Shape;245;g3b915263988_0_303"/>
            <p:cNvSpPr txBox="1"/>
            <p:nvPr/>
          </p:nvSpPr>
          <p:spPr>
            <a:xfrm>
              <a:off x="1235825" y="2695025"/>
              <a:ext cx="1505100" cy="446400"/>
            </a:xfrm>
            <a:prstGeom prst="rect">
              <a:avLst/>
            </a:prstGeom>
            <a:noFill/>
            <a:ln>
              <a:noFill/>
            </a:ln>
          </p:spPr>
          <p:txBody>
            <a:bodyPr anchorCtr="0" anchor="b" bIns="149650" lIns="149650" spcFirstLastPara="1" rIns="149650" wrap="square" tIns="149650">
              <a:noAutofit/>
            </a:bodyPr>
            <a:lstStyle/>
            <a:p>
              <a:pPr indent="0" lvl="0" marL="0" rtl="0" algn="l">
                <a:lnSpc>
                  <a:spcPct val="115000"/>
                </a:lnSpc>
                <a:spcBef>
                  <a:spcPts val="0"/>
                </a:spcBef>
                <a:spcAft>
                  <a:spcPts val="0"/>
                </a:spcAft>
                <a:buNone/>
              </a:pPr>
              <a:r>
                <a:rPr b="1" lang="en-CA" sz="1595">
                  <a:solidFill>
                    <a:srgbClr val="858585"/>
                  </a:solidFill>
                  <a:latin typeface="Roboto"/>
                  <a:ea typeface="Roboto"/>
                  <a:cs typeface="Roboto"/>
                  <a:sym typeface="Roboto"/>
                </a:rPr>
                <a:t>Grid Disruption</a:t>
              </a:r>
              <a:endParaRPr b="1" sz="1595">
                <a:solidFill>
                  <a:srgbClr val="858585"/>
                </a:solidFill>
                <a:latin typeface="Roboto"/>
                <a:ea typeface="Roboto"/>
                <a:cs typeface="Roboto"/>
                <a:sym typeface="Roboto"/>
              </a:endParaRPr>
            </a:p>
          </p:txBody>
        </p:sp>
        <p:sp>
          <p:nvSpPr>
            <p:cNvPr id="246" name="Google Shape;246;g3b915263988_0_303"/>
            <p:cNvSpPr txBox="1"/>
            <p:nvPr/>
          </p:nvSpPr>
          <p:spPr>
            <a:xfrm>
              <a:off x="1215700" y="3151825"/>
              <a:ext cx="1545600" cy="737400"/>
            </a:xfrm>
            <a:prstGeom prst="rect">
              <a:avLst/>
            </a:prstGeom>
            <a:noFill/>
            <a:ln>
              <a:noFill/>
            </a:ln>
          </p:spPr>
          <p:txBody>
            <a:bodyPr anchorCtr="0" anchor="t" bIns="149650" lIns="149650" spcFirstLastPara="1" rIns="149650" wrap="square" tIns="149650">
              <a:noAutofit/>
            </a:bodyPr>
            <a:lstStyle/>
            <a:p>
              <a:pPr indent="0" lvl="0" marL="0" rtl="0" algn="l">
                <a:lnSpc>
                  <a:spcPct val="115000"/>
                </a:lnSpc>
                <a:spcBef>
                  <a:spcPts val="0"/>
                </a:spcBef>
                <a:spcAft>
                  <a:spcPts val="2578"/>
                </a:spcAft>
                <a:buNone/>
              </a:pPr>
              <a:r>
                <a:t/>
              </a:r>
              <a:endParaRPr sz="1350">
                <a:solidFill>
                  <a:srgbClr val="858585"/>
                </a:solidFill>
                <a:latin typeface="Roboto"/>
                <a:ea typeface="Roboto"/>
                <a:cs typeface="Roboto"/>
                <a:sym typeface="Roboto"/>
              </a:endParaRPr>
            </a:p>
          </p:txBody>
        </p:sp>
        <p:cxnSp>
          <p:nvCxnSpPr>
            <p:cNvPr id="247" name="Google Shape;247;g3b915263988_0_303"/>
            <p:cNvCxnSpPr/>
            <p:nvPr/>
          </p:nvCxnSpPr>
          <p:spPr>
            <a:xfrm>
              <a:off x="2180202"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48" name="Google Shape;248;g3b915263988_0_303"/>
            <p:cNvSpPr/>
            <p:nvPr/>
          </p:nvSpPr>
          <p:spPr>
            <a:xfrm flipH="1">
              <a:off x="1083025" y="2306625"/>
              <a:ext cx="1834800" cy="143400"/>
            </a:xfrm>
            <a:prstGeom prst="parallelogram">
              <a:avLst>
                <a:gd fmla="val 96952" name="adj"/>
              </a:avLst>
            </a:prstGeom>
            <a:solidFill>
              <a:srgbClr val="C2C2C2"/>
            </a:solidFill>
            <a:ln>
              <a:noFill/>
            </a:ln>
          </p:spPr>
          <p:txBody>
            <a:bodyPr anchorCtr="0" anchor="ctr" bIns="149650" lIns="149650" spcFirstLastPara="1" rIns="149650" wrap="square" tIns="149650">
              <a:noAutofit/>
            </a:bodyPr>
            <a:lstStyle/>
            <a:p>
              <a:pPr indent="0" lvl="0" marL="0" rtl="0" algn="l">
                <a:spcBef>
                  <a:spcPts val="0"/>
                </a:spcBef>
                <a:spcAft>
                  <a:spcPts val="0"/>
                </a:spcAft>
                <a:buNone/>
              </a:pPr>
              <a:r>
                <a:rPr lang="en-CA" sz="2332"/>
                <a:t>  </a:t>
              </a:r>
              <a:endParaRPr sz="2332"/>
            </a:p>
          </p:txBody>
        </p:sp>
        <p:sp>
          <p:nvSpPr>
            <p:cNvPr id="249" name="Google Shape;249;g3b915263988_0_303"/>
            <p:cNvSpPr/>
            <p:nvPr/>
          </p:nvSpPr>
          <p:spPr>
            <a:xfrm>
              <a:off x="1083125" y="2460449"/>
              <a:ext cx="1834800" cy="143400"/>
            </a:xfrm>
            <a:prstGeom prst="parallelogram">
              <a:avLst>
                <a:gd fmla="val 96952" name="adj"/>
              </a:avLst>
            </a:prstGeom>
            <a:solidFill>
              <a:srgbClr val="858585"/>
            </a:solidFill>
            <a:ln>
              <a:noFill/>
            </a:ln>
          </p:spPr>
          <p:txBody>
            <a:bodyPr anchorCtr="0" anchor="ctr" bIns="149650" lIns="149650" spcFirstLastPara="1" rIns="149650" wrap="square" tIns="149650">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4" name="Shape 254"/>
        <p:cNvGrpSpPr/>
        <p:nvPr/>
      </p:nvGrpSpPr>
      <p:grpSpPr>
        <a:xfrm>
          <a:off x="0" y="0"/>
          <a:ext cx="0" cy="0"/>
          <a:chOff x="0" y="0"/>
          <a:chExt cx="0" cy="0"/>
        </a:xfrm>
      </p:grpSpPr>
      <p:sp>
        <p:nvSpPr>
          <p:cNvPr id="255" name="Google Shape;255;g3b915263988_0_319"/>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256" name="Google Shape;256;g3b915263988_0_319"/>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257" name="Google Shape;257;g3b915263988_0_319"/>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OSINT</a:t>
            </a:r>
            <a:endParaRPr b="0" i="0" sz="1400" u="none" cap="none" strike="noStrike">
              <a:solidFill>
                <a:srgbClr val="000000"/>
              </a:solidFill>
              <a:latin typeface="Arial"/>
              <a:ea typeface="Arial"/>
              <a:cs typeface="Arial"/>
              <a:sym typeface="Arial"/>
            </a:endParaRPr>
          </a:p>
        </p:txBody>
      </p:sp>
      <p:sp>
        <p:nvSpPr>
          <p:cNvPr id="258" name="Google Shape;258;g3b915263988_0_319"/>
          <p:cNvSpPr txBox="1"/>
          <p:nvPr/>
        </p:nvSpPr>
        <p:spPr>
          <a:xfrm>
            <a:off x="565886" y="1117429"/>
            <a:ext cx="10035900" cy="4402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Open Source Intelligence</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What to look for in a human access point</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OT Network Engineer</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10+ years ICS experience</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Vendor facing/Client facing responsibilities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PLC and SCADA experience</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LinkedIn Profile Scraping</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3" name="Shape 263"/>
        <p:cNvGrpSpPr/>
        <p:nvPr/>
      </p:nvGrpSpPr>
      <p:grpSpPr>
        <a:xfrm>
          <a:off x="0" y="0"/>
          <a:ext cx="0" cy="0"/>
          <a:chOff x="0" y="0"/>
          <a:chExt cx="0" cy="0"/>
        </a:xfrm>
      </p:grpSpPr>
      <p:sp>
        <p:nvSpPr>
          <p:cNvPr id="264" name="Google Shape;264;g3b915263988_0_311"/>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265" name="Google Shape;265;g3b915263988_0_311"/>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266" name="Google Shape;266;g3b915263988_0_311"/>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Comparable Infrastructure</a:t>
            </a:r>
            <a:endParaRPr b="0" i="0" sz="1400" u="none" cap="none" strike="noStrike">
              <a:solidFill>
                <a:srgbClr val="000000"/>
              </a:solidFill>
              <a:latin typeface="Arial"/>
              <a:ea typeface="Arial"/>
              <a:cs typeface="Arial"/>
              <a:sym typeface="Arial"/>
            </a:endParaRPr>
          </a:p>
        </p:txBody>
      </p:sp>
      <p:sp>
        <p:nvSpPr>
          <p:cNvPr id="267" name="Google Shape;267;g3b915263988_0_311"/>
          <p:cNvSpPr txBox="1"/>
          <p:nvPr/>
        </p:nvSpPr>
        <p:spPr>
          <a:xfrm>
            <a:off x="554636" y="1214204"/>
            <a:ext cx="10035900" cy="1816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Ukrainian regional distribution grids (2015-2016)</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North American RTOs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Publicly documented substation and control centers</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2" name="Shape 272"/>
        <p:cNvGrpSpPr/>
        <p:nvPr/>
      </p:nvGrpSpPr>
      <p:grpSpPr>
        <a:xfrm>
          <a:off x="0" y="0"/>
          <a:ext cx="0" cy="0"/>
          <a:chOff x="0" y="0"/>
          <a:chExt cx="0" cy="0"/>
        </a:xfrm>
      </p:grpSpPr>
      <p:sp>
        <p:nvSpPr>
          <p:cNvPr id="273" name="Google Shape;273;g3b915263988_0_295"/>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274" name="Google Shape;274;g3b915263988_0_295"/>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275" name="Google Shape;275;g3b915263988_0_295"/>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Phase Defense: Recon &amp; OSINT</a:t>
            </a:r>
            <a:endParaRPr b="0" i="0" sz="1400" u="none" cap="none" strike="noStrike">
              <a:solidFill>
                <a:srgbClr val="000000"/>
              </a:solidFill>
              <a:latin typeface="Arial"/>
              <a:ea typeface="Arial"/>
              <a:cs typeface="Arial"/>
              <a:sym typeface="Arial"/>
            </a:endParaRPr>
          </a:p>
        </p:txBody>
      </p:sp>
      <p:sp>
        <p:nvSpPr>
          <p:cNvPr id="276" name="Google Shape;276;g3b915263988_0_295"/>
          <p:cNvSpPr txBox="1"/>
          <p:nvPr/>
        </p:nvSpPr>
        <p:spPr>
          <a:xfrm>
            <a:off x="554636" y="1214204"/>
            <a:ext cx="10035900" cy="2462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Avoid oversharing on LinkedIn</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Pay attention to profile scraping or unusual access patterns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Limit public accessibility of grid topology documents</a:t>
            </a:r>
            <a:endParaRPr b="0" i="0" sz="28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1" name="Shape 281"/>
        <p:cNvGrpSpPr/>
        <p:nvPr/>
      </p:nvGrpSpPr>
      <p:grpSpPr>
        <a:xfrm>
          <a:off x="0" y="0"/>
          <a:ext cx="0" cy="0"/>
          <a:chOff x="0" y="0"/>
          <a:chExt cx="0" cy="0"/>
        </a:xfrm>
      </p:grpSpPr>
      <p:sp>
        <p:nvSpPr>
          <p:cNvPr id="282" name="Google Shape;282;g3b915263988_0_279"/>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283" name="Google Shape;283;g3b915263988_0_279"/>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284" name="Google Shape;284;g3b915263988_0_279"/>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Initial Access</a:t>
            </a:r>
            <a:endParaRPr b="0" i="0" sz="1400" u="none" cap="none" strike="noStrike">
              <a:solidFill>
                <a:srgbClr val="000000"/>
              </a:solidFill>
              <a:latin typeface="Arial"/>
              <a:ea typeface="Arial"/>
              <a:cs typeface="Arial"/>
              <a:sym typeface="Arial"/>
            </a:endParaRPr>
          </a:p>
        </p:txBody>
      </p:sp>
      <p:sp>
        <p:nvSpPr>
          <p:cNvPr id="285" name="Google Shape;285;g3b915263988_0_279"/>
          <p:cNvSpPr txBox="1"/>
          <p:nvPr/>
        </p:nvSpPr>
        <p:spPr>
          <a:xfrm>
            <a:off x="554636" y="1214204"/>
            <a:ext cx="10035900" cy="3755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Spear-Phishing</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Social Engineering</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Messages are made to require action (Urgency and familiarity)</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Used to gain access through valid credentials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Hybrid IT/OT targets </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0" name="Shape 290"/>
        <p:cNvGrpSpPr/>
        <p:nvPr/>
      </p:nvGrpSpPr>
      <p:grpSpPr>
        <a:xfrm>
          <a:off x="0" y="0"/>
          <a:ext cx="0" cy="0"/>
          <a:chOff x="0" y="0"/>
          <a:chExt cx="0" cy="0"/>
        </a:xfrm>
      </p:grpSpPr>
      <p:sp>
        <p:nvSpPr>
          <p:cNvPr id="291" name="Google Shape;291;g3b915263988_0_287"/>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292" name="Google Shape;292;g3b915263988_0_287"/>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293" name="Google Shape;293;g3b915263988_0_287"/>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Phase Defense: Initial Access</a:t>
            </a:r>
            <a:endParaRPr b="0" i="0" sz="1400" u="none" cap="none" strike="noStrike">
              <a:solidFill>
                <a:srgbClr val="000000"/>
              </a:solidFill>
              <a:latin typeface="Arial"/>
              <a:ea typeface="Arial"/>
              <a:cs typeface="Arial"/>
              <a:sym typeface="Arial"/>
            </a:endParaRPr>
          </a:p>
        </p:txBody>
      </p:sp>
      <p:sp>
        <p:nvSpPr>
          <p:cNvPr id="294" name="Google Shape;294;g3b915263988_0_287"/>
          <p:cNvSpPr txBox="1"/>
          <p:nvPr/>
        </p:nvSpPr>
        <p:spPr>
          <a:xfrm>
            <a:off x="554636" y="1214204"/>
            <a:ext cx="10035900" cy="4402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Educate employees on cybersecurity</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Do not trust emails, links, QR codes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Every file contains potential malware</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“Success breeds complacency. Complacency breeds failure. Only the paranoid survive.” - Andy Grove</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Enforce Multi Factor Authentication for remote access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Heavily restrict third party and vendor access</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9" name="Shape 299"/>
        <p:cNvGrpSpPr/>
        <p:nvPr/>
      </p:nvGrpSpPr>
      <p:grpSpPr>
        <a:xfrm>
          <a:off x="0" y="0"/>
          <a:ext cx="0" cy="0"/>
          <a:chOff x="0" y="0"/>
          <a:chExt cx="0" cy="0"/>
        </a:xfrm>
      </p:grpSpPr>
      <p:sp>
        <p:nvSpPr>
          <p:cNvPr id="300" name="Google Shape;300;g3b915263988_0_271"/>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301" name="Google Shape;301;g3b915263988_0_271"/>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302" name="Google Shape;302;g3b915263988_0_271"/>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Living off the land</a:t>
            </a:r>
            <a:endParaRPr b="0" i="0" sz="1400" u="none" cap="none" strike="noStrike">
              <a:solidFill>
                <a:srgbClr val="000000"/>
              </a:solidFill>
              <a:latin typeface="Arial"/>
              <a:ea typeface="Arial"/>
              <a:cs typeface="Arial"/>
              <a:sym typeface="Arial"/>
            </a:endParaRPr>
          </a:p>
        </p:txBody>
      </p:sp>
      <p:sp>
        <p:nvSpPr>
          <p:cNvPr id="303" name="Google Shape;303;g3b915263988_0_271"/>
          <p:cNvSpPr txBox="1"/>
          <p:nvPr/>
        </p:nvSpPr>
        <p:spPr>
          <a:xfrm>
            <a:off x="674586" y="1233554"/>
            <a:ext cx="10035900" cy="3109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Use only what is at your disposal</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Native admin tools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Downloads attract attention</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Malware attracts attention</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Observation and persistence</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8" name="Shape 308"/>
        <p:cNvGrpSpPr/>
        <p:nvPr/>
      </p:nvGrpSpPr>
      <p:grpSpPr>
        <a:xfrm>
          <a:off x="0" y="0"/>
          <a:ext cx="0" cy="0"/>
          <a:chOff x="0" y="0"/>
          <a:chExt cx="0" cy="0"/>
        </a:xfrm>
      </p:grpSpPr>
      <p:sp>
        <p:nvSpPr>
          <p:cNvPr id="309" name="Google Shape;309;g3b915263988_0_439"/>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310" name="Google Shape;310;g3b915263988_0_439"/>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311" name="Google Shape;311;g3b915263988_0_439"/>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lang="en-CA" sz="3600" cap="small">
                <a:solidFill>
                  <a:srgbClr val="254374"/>
                </a:solidFill>
                <a:latin typeface="Avenir"/>
                <a:ea typeface="Avenir"/>
                <a:cs typeface="Avenir"/>
                <a:sym typeface="Avenir"/>
              </a:rPr>
              <a:t>Red Team OPSEC</a:t>
            </a:r>
            <a:r>
              <a:rPr b="1" i="0" lang="en-CA" sz="3600" u="none" cap="small" strike="noStrike">
                <a:solidFill>
                  <a:srgbClr val="254374"/>
                </a:solidFill>
                <a:latin typeface="Avenir"/>
                <a:ea typeface="Avenir"/>
                <a:cs typeface="Avenir"/>
                <a:sym typeface="Avenir"/>
              </a:rPr>
              <a:t>: LOTL</a:t>
            </a:r>
            <a:endParaRPr b="0" i="0" sz="1400" u="none" cap="none" strike="noStrike">
              <a:solidFill>
                <a:srgbClr val="000000"/>
              </a:solidFill>
              <a:latin typeface="Arial"/>
              <a:ea typeface="Arial"/>
              <a:cs typeface="Arial"/>
              <a:sym typeface="Arial"/>
            </a:endParaRPr>
          </a:p>
        </p:txBody>
      </p:sp>
      <p:sp>
        <p:nvSpPr>
          <p:cNvPr id="312" name="Google Shape;312;g3b915263988_0_439"/>
          <p:cNvSpPr txBox="1"/>
          <p:nvPr/>
        </p:nvSpPr>
        <p:spPr>
          <a:xfrm>
            <a:off x="554636" y="1214204"/>
            <a:ext cx="10035900" cy="1816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lang="en-CA" sz="2800">
                <a:solidFill>
                  <a:schemeClr val="dk1"/>
                </a:solidFill>
              </a:rPr>
              <a:t>Avoid noisy tools</a:t>
            </a:r>
            <a:endParaRPr sz="2800">
              <a:solidFill>
                <a:schemeClr val="dk1"/>
              </a:solidFill>
            </a:endParaRPr>
          </a:p>
          <a:p>
            <a:pPr indent="-285750" lvl="0" marL="285750" marR="0" rtl="0" algn="l">
              <a:lnSpc>
                <a:spcPct val="150000"/>
              </a:lnSpc>
              <a:spcBef>
                <a:spcPts val="0"/>
              </a:spcBef>
              <a:spcAft>
                <a:spcPts val="0"/>
              </a:spcAft>
              <a:buClr>
                <a:schemeClr val="dk1"/>
              </a:buClr>
              <a:buSzPts val="2800"/>
              <a:buChar char="•"/>
            </a:pPr>
            <a:r>
              <a:rPr lang="en-CA" sz="2800">
                <a:solidFill>
                  <a:schemeClr val="dk1"/>
                </a:solidFill>
              </a:rPr>
              <a:t>Blend with normal admin activity</a:t>
            </a:r>
            <a:endParaRPr sz="2800">
              <a:solidFill>
                <a:schemeClr val="dk1"/>
              </a:solidFill>
            </a:endParaRPr>
          </a:p>
          <a:p>
            <a:pPr indent="-285750" lvl="0" marL="285750" marR="0" rtl="0" algn="l">
              <a:lnSpc>
                <a:spcPct val="150000"/>
              </a:lnSpc>
              <a:spcBef>
                <a:spcPts val="0"/>
              </a:spcBef>
              <a:spcAft>
                <a:spcPts val="0"/>
              </a:spcAft>
              <a:buClr>
                <a:schemeClr val="dk1"/>
              </a:buClr>
              <a:buSzPts val="2800"/>
              <a:buChar char="•"/>
            </a:pPr>
            <a:r>
              <a:rPr lang="en-CA" sz="2800">
                <a:solidFill>
                  <a:schemeClr val="dk1"/>
                </a:solidFill>
              </a:rPr>
              <a:t>Minimize contact with OT until final phases</a:t>
            </a:r>
            <a:endParaRPr sz="2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7" name="Shape 317"/>
        <p:cNvGrpSpPr/>
        <p:nvPr/>
      </p:nvGrpSpPr>
      <p:grpSpPr>
        <a:xfrm>
          <a:off x="0" y="0"/>
          <a:ext cx="0" cy="0"/>
          <a:chOff x="0" y="0"/>
          <a:chExt cx="0" cy="0"/>
        </a:xfrm>
      </p:grpSpPr>
      <p:sp>
        <p:nvSpPr>
          <p:cNvPr id="318" name="Google Shape;318;g3b91cd30b77_0_0"/>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319" name="Google Shape;319;g3b91cd30b77_0_0"/>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320" name="Google Shape;320;g3b91cd30b77_0_0"/>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lang="en-CA" sz="3600" cap="small">
                <a:solidFill>
                  <a:srgbClr val="254374"/>
                </a:solidFill>
                <a:latin typeface="Avenir"/>
                <a:ea typeface="Avenir"/>
                <a:cs typeface="Avenir"/>
                <a:sym typeface="Avenir"/>
              </a:rPr>
              <a:t>Blue Team </a:t>
            </a:r>
            <a:r>
              <a:rPr b="1" i="0" lang="en-CA" sz="3600" u="none" cap="small" strike="noStrike">
                <a:solidFill>
                  <a:srgbClr val="254374"/>
                </a:solidFill>
                <a:latin typeface="Avenir"/>
                <a:ea typeface="Avenir"/>
                <a:cs typeface="Avenir"/>
                <a:sym typeface="Avenir"/>
              </a:rPr>
              <a:t>Defense: LOTL</a:t>
            </a:r>
            <a:endParaRPr b="0" i="0" sz="1400" u="none" cap="none" strike="noStrike">
              <a:solidFill>
                <a:srgbClr val="000000"/>
              </a:solidFill>
              <a:latin typeface="Arial"/>
              <a:ea typeface="Arial"/>
              <a:cs typeface="Arial"/>
              <a:sym typeface="Arial"/>
            </a:endParaRPr>
          </a:p>
        </p:txBody>
      </p:sp>
      <p:sp>
        <p:nvSpPr>
          <p:cNvPr id="321" name="Google Shape;321;g3b91cd30b77_0_0"/>
          <p:cNvSpPr txBox="1"/>
          <p:nvPr/>
        </p:nvSpPr>
        <p:spPr>
          <a:xfrm>
            <a:off x="554636" y="1214204"/>
            <a:ext cx="10035900" cy="1816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Compare activity with baseline administrative behavior</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Watch for unusual use of native tools (PowerShell, WM</a:t>
            </a:r>
            <a:r>
              <a:rPr lang="en-CA" sz="2800">
                <a:solidFill>
                  <a:schemeClr val="dk1"/>
                </a:solidFill>
              </a:rPr>
              <a:t>I</a:t>
            </a:r>
            <a:r>
              <a:rPr b="0" i="0" lang="en-CA" sz="2800" u="none" cap="none" strike="noStrike">
                <a:solidFill>
                  <a:schemeClr val="dk1"/>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Apply least privileges to IT admins</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6" name="Shape 326"/>
        <p:cNvGrpSpPr/>
        <p:nvPr/>
      </p:nvGrpSpPr>
      <p:grpSpPr>
        <a:xfrm>
          <a:off x="0" y="0"/>
          <a:ext cx="0" cy="0"/>
          <a:chOff x="0" y="0"/>
          <a:chExt cx="0" cy="0"/>
        </a:xfrm>
      </p:grpSpPr>
      <p:sp>
        <p:nvSpPr>
          <p:cNvPr id="327" name="Google Shape;327;g3b915263988_0_255"/>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328" name="Google Shape;328;g3b915263988_0_255"/>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329" name="Google Shape;329;g3b915263988_0_255"/>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IT -&gt; OT Pivot</a:t>
            </a:r>
            <a:endParaRPr b="0" i="0" sz="1400" u="none" cap="none" strike="noStrike">
              <a:solidFill>
                <a:srgbClr val="000000"/>
              </a:solidFill>
              <a:latin typeface="Arial"/>
              <a:ea typeface="Arial"/>
              <a:cs typeface="Arial"/>
              <a:sym typeface="Arial"/>
            </a:endParaRPr>
          </a:p>
        </p:txBody>
      </p:sp>
      <p:sp>
        <p:nvSpPr>
          <p:cNvPr id="330" name="Google Shape;330;g3b915263988_0_255"/>
          <p:cNvSpPr txBox="1"/>
          <p:nvPr/>
        </p:nvSpPr>
        <p:spPr>
          <a:xfrm>
            <a:off x="438536" y="1272254"/>
            <a:ext cx="10035900" cy="3109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Making the jump from IT to OT using shared credentials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Shared network resources between IT and OT</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IT administrative access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Abusing SCADA software to map out grid topology and PLC behavior</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5" name="Shape 335"/>
        <p:cNvGrpSpPr/>
        <p:nvPr/>
      </p:nvGrpSpPr>
      <p:grpSpPr>
        <a:xfrm>
          <a:off x="0" y="0"/>
          <a:ext cx="0" cy="0"/>
          <a:chOff x="0" y="0"/>
          <a:chExt cx="0" cy="0"/>
        </a:xfrm>
      </p:grpSpPr>
      <p:sp>
        <p:nvSpPr>
          <p:cNvPr id="336" name="Google Shape;336;g3b915263988_0_522"/>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337" name="Google Shape;337;g3b915263988_0_522"/>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338" name="Google Shape;338;g3b915263988_0_522"/>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Phase Defense: IT -&gt; OT Pivot</a:t>
            </a:r>
            <a:endParaRPr b="0" i="0" sz="1400" u="none" cap="none" strike="noStrike">
              <a:solidFill>
                <a:srgbClr val="000000"/>
              </a:solidFill>
              <a:latin typeface="Arial"/>
              <a:ea typeface="Arial"/>
              <a:cs typeface="Arial"/>
              <a:sym typeface="Arial"/>
            </a:endParaRPr>
          </a:p>
        </p:txBody>
      </p:sp>
      <p:sp>
        <p:nvSpPr>
          <p:cNvPr id="339" name="Google Shape;339;g3b915263988_0_522"/>
          <p:cNvSpPr txBox="1"/>
          <p:nvPr/>
        </p:nvSpPr>
        <p:spPr>
          <a:xfrm>
            <a:off x="554636" y="1214204"/>
            <a:ext cx="10035900" cy="4402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Enforce network segmentation</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Alerts on abnormal authentication attempts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Block direct IT -&gt; OT administrative access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Logs and reports on OT asset scans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Treat all remote desktops as high risk</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All IT access to OT assets should be heavily monitored and controlled</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4" name="Shape 344"/>
        <p:cNvGrpSpPr/>
        <p:nvPr/>
      </p:nvGrpSpPr>
      <p:grpSpPr>
        <a:xfrm>
          <a:off x="0" y="0"/>
          <a:ext cx="0" cy="0"/>
          <a:chOff x="0" y="0"/>
          <a:chExt cx="0" cy="0"/>
        </a:xfrm>
      </p:grpSpPr>
      <p:sp>
        <p:nvSpPr>
          <p:cNvPr id="345" name="Google Shape;345;g3b915263988_0_530"/>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346" name="Google Shape;346;g3b915263988_0_530"/>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347" name="Google Shape;347;g3b915263988_0_530"/>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Grid disruption</a:t>
            </a:r>
            <a:endParaRPr b="0" i="0" sz="1400" u="none" cap="none" strike="noStrike">
              <a:solidFill>
                <a:srgbClr val="000000"/>
              </a:solidFill>
              <a:latin typeface="Arial"/>
              <a:ea typeface="Arial"/>
              <a:cs typeface="Arial"/>
              <a:sym typeface="Arial"/>
            </a:endParaRPr>
          </a:p>
        </p:txBody>
      </p:sp>
      <p:sp>
        <p:nvSpPr>
          <p:cNvPr id="348" name="Google Shape;348;g3b915263988_0_530"/>
          <p:cNvSpPr txBox="1"/>
          <p:nvPr/>
        </p:nvSpPr>
        <p:spPr>
          <a:xfrm>
            <a:off x="554636" y="1214204"/>
            <a:ext cx="10035900" cy="4402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Attackers used existing architecture to trigger an automated shutdown</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System failsafes were mapped thoroughly</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System were made to operate in a way that would trigger a cascade of failsafe mechanisms activating</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This was the final step of the cyber component of Operation Absolute Resolve: Weaponized Automation</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3" name="Shape 353"/>
        <p:cNvGrpSpPr/>
        <p:nvPr/>
      </p:nvGrpSpPr>
      <p:grpSpPr>
        <a:xfrm>
          <a:off x="0" y="0"/>
          <a:ext cx="0" cy="0"/>
          <a:chOff x="0" y="0"/>
          <a:chExt cx="0" cy="0"/>
        </a:xfrm>
      </p:grpSpPr>
      <p:sp>
        <p:nvSpPr>
          <p:cNvPr id="354" name="Google Shape;354;g3b915263988_0_538"/>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355" name="Google Shape;355;g3b915263988_0_538"/>
          <p:cNvPicPr preferRelativeResize="0"/>
          <p:nvPr/>
        </p:nvPicPr>
        <p:blipFill rotWithShape="1">
          <a:blip r:embed="rId4">
            <a:alphaModFix/>
          </a:blip>
          <a:srcRect b="0" l="0" r="0" t="0"/>
          <a:stretch/>
        </p:blipFill>
        <p:spPr>
          <a:xfrm>
            <a:off x="10710471" y="219111"/>
            <a:ext cx="697043" cy="697042"/>
          </a:xfrm>
          <a:prstGeom prst="rect">
            <a:avLst/>
          </a:prstGeom>
          <a:noFill/>
          <a:ln>
            <a:noFill/>
          </a:ln>
        </p:spPr>
      </p:pic>
      <p:sp>
        <p:nvSpPr>
          <p:cNvPr id="356" name="Google Shape;356;g3b915263988_0_538"/>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Phase Defense: Grid disruption</a:t>
            </a:r>
            <a:endParaRPr b="0" i="0" sz="1400" u="none" cap="none" strike="noStrike">
              <a:solidFill>
                <a:srgbClr val="000000"/>
              </a:solidFill>
              <a:latin typeface="Arial"/>
              <a:ea typeface="Arial"/>
              <a:cs typeface="Arial"/>
              <a:sym typeface="Arial"/>
            </a:endParaRPr>
          </a:p>
        </p:txBody>
      </p:sp>
      <p:sp>
        <p:nvSpPr>
          <p:cNvPr id="357" name="Google Shape;357;g3b915263988_0_538"/>
          <p:cNvSpPr txBox="1"/>
          <p:nvPr/>
        </p:nvSpPr>
        <p:spPr>
          <a:xfrm>
            <a:off x="554636" y="1214204"/>
            <a:ext cx="10035900" cy="2462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Critical actions such as automated shutdowns and fail safe mechanisms require human validation</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System monitoring for abnormal commands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Regular training on OT response drills</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b915263988_0_554"/>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364" name="Google Shape;364;g3b915263988_0_554"/>
          <p:cNvPicPr preferRelativeResize="0"/>
          <p:nvPr/>
        </p:nvPicPr>
        <p:blipFill rotWithShape="1">
          <a:blip r:embed="rId3">
            <a:alphaModFix/>
          </a:blip>
          <a:srcRect b="0" l="0" r="0" t="0"/>
          <a:stretch/>
        </p:blipFill>
        <p:spPr>
          <a:xfrm>
            <a:off x="10710471" y="219111"/>
            <a:ext cx="697043" cy="697042"/>
          </a:xfrm>
          <a:prstGeom prst="rect">
            <a:avLst/>
          </a:prstGeom>
          <a:noFill/>
          <a:ln>
            <a:noFill/>
          </a:ln>
        </p:spPr>
      </p:pic>
      <p:sp>
        <p:nvSpPr>
          <p:cNvPr id="365" name="Google Shape;365;g3b915263988_0_554"/>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Conclusion</a:t>
            </a:r>
            <a:endParaRPr b="0" i="0" sz="1400" u="none" cap="none" strike="noStrike">
              <a:solidFill>
                <a:srgbClr val="000000"/>
              </a:solidFill>
              <a:latin typeface="Arial"/>
              <a:ea typeface="Arial"/>
              <a:cs typeface="Arial"/>
              <a:sym typeface="Arial"/>
            </a:endParaRPr>
          </a:p>
        </p:txBody>
      </p:sp>
      <p:sp>
        <p:nvSpPr>
          <p:cNvPr id="366" name="Google Shape;366;g3b915263988_0_554"/>
          <p:cNvSpPr txBox="1"/>
          <p:nvPr/>
        </p:nvSpPr>
        <p:spPr>
          <a:xfrm>
            <a:off x="554636" y="1214204"/>
            <a:ext cx="10035900" cy="5048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Every phase exploited things systems administrators take for granted</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Public Information</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Trusted Users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Admin tools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Network Convenience</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Automated protections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These are architectural failures, not technical</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3b915263988_0_546"/>
          <p:cNvSpPr/>
          <p:nvPr/>
        </p:nvSpPr>
        <p:spPr>
          <a:xfrm>
            <a:off x="11527435" y="-104931"/>
            <a:ext cx="794400" cy="7240200"/>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373" name="Google Shape;373;g3b915263988_0_546"/>
          <p:cNvPicPr preferRelativeResize="0"/>
          <p:nvPr/>
        </p:nvPicPr>
        <p:blipFill rotWithShape="1">
          <a:blip r:embed="rId3">
            <a:alphaModFix/>
          </a:blip>
          <a:srcRect b="0" l="0" r="0" t="0"/>
          <a:stretch/>
        </p:blipFill>
        <p:spPr>
          <a:xfrm>
            <a:off x="10710471" y="219111"/>
            <a:ext cx="697043" cy="697042"/>
          </a:xfrm>
          <a:prstGeom prst="rect">
            <a:avLst/>
          </a:prstGeom>
          <a:noFill/>
          <a:ln>
            <a:noFill/>
          </a:ln>
        </p:spPr>
      </p:pic>
      <p:sp>
        <p:nvSpPr>
          <p:cNvPr id="374" name="Google Shape;374;g3b915263988_0_546"/>
          <p:cNvSpPr txBox="1"/>
          <p:nvPr/>
        </p:nvSpPr>
        <p:spPr>
          <a:xfrm>
            <a:off x="554636" y="389744"/>
            <a:ext cx="10058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CA" sz="3600" u="none" cap="small" strike="noStrike">
                <a:solidFill>
                  <a:srgbClr val="254374"/>
                </a:solidFill>
                <a:latin typeface="Avenir"/>
                <a:ea typeface="Avenir"/>
                <a:cs typeface="Avenir"/>
                <a:sym typeface="Avenir"/>
              </a:rPr>
              <a:t>Questions</a:t>
            </a:r>
            <a:endParaRPr b="0" i="0" sz="1400" u="none" cap="none" strike="noStrike">
              <a:solidFill>
                <a:srgbClr val="000000"/>
              </a:solidFill>
              <a:latin typeface="Arial"/>
              <a:ea typeface="Arial"/>
              <a:cs typeface="Arial"/>
              <a:sym typeface="Arial"/>
            </a:endParaRPr>
          </a:p>
        </p:txBody>
      </p:sp>
      <p:sp>
        <p:nvSpPr>
          <p:cNvPr id="375" name="Google Shape;375;g3b915263988_0_546"/>
          <p:cNvSpPr txBox="1"/>
          <p:nvPr/>
        </p:nvSpPr>
        <p:spPr>
          <a:xfrm>
            <a:off x="554636" y="1214204"/>
            <a:ext cx="10035900" cy="3755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What defensive measure would most effectively have prevented initial access?</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Why did the attackers not choose to attack OT systems directly?</a:t>
            </a:r>
            <a:endParaRPr b="0" i="0" sz="2800" u="none" cap="none" strike="noStrik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800"/>
              <a:buFont typeface="Arial"/>
              <a:buChar char="•"/>
            </a:pPr>
            <a:r>
              <a:rPr b="0" i="0" lang="en-CA" sz="2800" u="none" cap="none" strike="noStrike">
                <a:solidFill>
                  <a:schemeClr val="dk1"/>
                </a:solidFill>
                <a:latin typeface="Arial"/>
                <a:ea typeface="Arial"/>
                <a:cs typeface="Arial"/>
                <a:sym typeface="Arial"/>
              </a:rPr>
              <a:t>Why did the attack not aim to cause lasting damage like the 2015 Russia power grids attacks on Ukraine?</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10"/>
          <p:cNvSpPr/>
          <p:nvPr/>
        </p:nvSpPr>
        <p:spPr>
          <a:xfrm>
            <a:off x="11527435" y="-104931"/>
            <a:ext cx="794479" cy="7240249"/>
          </a:xfrm>
          <a:prstGeom prst="rect">
            <a:avLst/>
          </a:prstGeom>
          <a:solidFill>
            <a:srgbClr val="E0E8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black logo&#10;&#10;AI-generated content may be incorrect." id="381" name="Google Shape;381;p10"/>
          <p:cNvPicPr preferRelativeResize="0"/>
          <p:nvPr/>
        </p:nvPicPr>
        <p:blipFill rotWithShape="1">
          <a:blip r:embed="rId3">
            <a:alphaModFix/>
          </a:blip>
          <a:srcRect b="0" l="0" r="0" t="0"/>
          <a:stretch/>
        </p:blipFill>
        <p:spPr>
          <a:xfrm>
            <a:off x="10710471" y="219111"/>
            <a:ext cx="697043" cy="697043"/>
          </a:xfrm>
          <a:prstGeom prst="rect">
            <a:avLst/>
          </a:prstGeom>
          <a:noFill/>
          <a:ln>
            <a:noFill/>
          </a:ln>
        </p:spPr>
      </p:pic>
      <p:sp>
        <p:nvSpPr>
          <p:cNvPr id="382" name="Google Shape;382;p10"/>
          <p:cNvSpPr txBox="1"/>
          <p:nvPr/>
        </p:nvSpPr>
        <p:spPr>
          <a:xfrm>
            <a:off x="652071" y="2293495"/>
            <a:ext cx="10058400"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CA" sz="7200" u="none" cap="small" strike="noStrike">
                <a:solidFill>
                  <a:srgbClr val="254374"/>
                </a:solidFill>
                <a:latin typeface="Arial"/>
                <a:ea typeface="Arial"/>
                <a:cs typeface="Arial"/>
                <a:sym typeface="Arial"/>
              </a:rPr>
              <a:t>Thank You!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2025-08-27T18:58:47Z</dcterms:created>
  <dc:creator>Peaches Madarang</dc:creator>
</cp:coreProperties>
</file>